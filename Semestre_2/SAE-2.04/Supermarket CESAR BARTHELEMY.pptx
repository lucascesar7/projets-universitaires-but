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handoutMasterIdLst>
    <p:handoutMasterId r:id="rId19"/>
  </p:handoutMasterIdLst>
  <p:sldIdLst>
    <p:sldId id="271" r:id="rId2"/>
    <p:sldId id="272" r:id="rId3"/>
    <p:sldId id="256" r:id="rId4"/>
    <p:sldId id="257" r:id="rId5"/>
    <p:sldId id="258" r:id="rId6"/>
    <p:sldId id="259" r:id="rId7"/>
    <p:sldId id="266" r:id="rId8"/>
    <p:sldId id="268" r:id="rId9"/>
    <p:sldId id="260" r:id="rId10"/>
    <p:sldId id="269" r:id="rId11"/>
    <p:sldId id="261" r:id="rId12"/>
    <p:sldId id="262" r:id="rId13"/>
    <p:sldId id="263" r:id="rId14"/>
    <p:sldId id="264" r:id="rId15"/>
    <p:sldId id="270" r:id="rId16"/>
    <p:sldId id="265" r:id="rId17"/>
  </p:sldIdLst>
  <p:sldSz cx="14630400" cy="8229600"/>
  <p:notesSz cx="8229600" cy="14630400"/>
  <p:embeddedFontLst>
    <p:embeddedFont>
      <p:font typeface="Cabin" panose="020B0604020202020204" charset="0"/>
      <p:regular r:id="rId20"/>
    </p:embeddedFont>
    <p:embeddedFont>
      <p:font typeface="Calibri" panose="020F0502020204030204" pitchFamily="34" charset="0"/>
      <p:regular r:id="rId21"/>
      <p:bold r:id="rId22"/>
      <p:italic r:id="rId23"/>
      <p:boldItalic r:id="rId24"/>
    </p:embeddedFont>
    <p:embeddedFont>
      <p:font typeface="Unbounde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28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22366378-CA42-423C-94AD-2977DBC4AA95}"/>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Espace réservé de la date 2">
            <a:extLst>
              <a:ext uri="{FF2B5EF4-FFF2-40B4-BE49-F238E27FC236}">
                <a16:creationId xmlns:a16="http://schemas.microsoft.com/office/drawing/2014/main" id="{35C21DF4-B081-4967-8BE6-12AC8B1D5455}"/>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6BAB3E1A-7415-448A-B077-1CC015042BD6}" type="datetimeFigureOut">
              <a:rPr lang="en-US" smtClean="0"/>
              <a:t>6/4/2025</a:t>
            </a:fld>
            <a:endParaRPr lang="en-US"/>
          </a:p>
        </p:txBody>
      </p:sp>
      <p:sp>
        <p:nvSpPr>
          <p:cNvPr id="4" name="Espace réservé du pied de page 3">
            <a:extLst>
              <a:ext uri="{FF2B5EF4-FFF2-40B4-BE49-F238E27FC236}">
                <a16:creationId xmlns:a16="http://schemas.microsoft.com/office/drawing/2014/main" id="{80972102-9E3E-4733-91C8-51373FC2628D}"/>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5" name="Espace réservé du numéro de diapositive 4">
            <a:extLst>
              <a:ext uri="{FF2B5EF4-FFF2-40B4-BE49-F238E27FC236}">
                <a16:creationId xmlns:a16="http://schemas.microsoft.com/office/drawing/2014/main" id="{8E9407F5-57CB-47DD-8A84-FAAA20DE1655}"/>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4BD18A00-800D-485D-8831-CA0A00D6662F}" type="slidenum">
              <a:rPr lang="en-US" smtClean="0"/>
              <a:t>‹N°›</a:t>
            </a:fld>
            <a:endParaRPr lang="en-US"/>
          </a:p>
        </p:txBody>
      </p:sp>
    </p:spTree>
    <p:extLst>
      <p:ext uri="{BB962C8B-B14F-4D97-AF65-F5344CB8AC3E}">
        <p14:creationId xmlns:p14="http://schemas.microsoft.com/office/powerpoint/2010/main" val="41023611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155818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0902" y="936665"/>
            <a:ext cx="7594997" cy="1952387"/>
          </a:xfrm>
          <a:prstGeom prst="rect">
            <a:avLst/>
          </a:prstGeom>
          <a:noFill/>
          <a:ln/>
        </p:spPr>
        <p:txBody>
          <a:bodyPr wrap="square" lIns="0" tIns="0" rIns="0" bIns="0" rtlCol="0" anchor="t"/>
          <a:lstStyle/>
          <a:p>
            <a:pPr marL="0" indent="0" algn="l">
              <a:lnSpc>
                <a:spcPts val="5100"/>
              </a:lnSpc>
              <a:buNone/>
            </a:pPr>
            <a:r>
              <a:rPr lang="en-US" sz="4100" dirty="0">
                <a:solidFill>
                  <a:srgbClr val="FFFFFF"/>
                </a:solidFill>
                <a:latin typeface="Unbounded" pitchFamily="34" charset="0"/>
                <a:ea typeface="Unbounded" pitchFamily="34" charset="-122"/>
                <a:cs typeface="Unbounded" pitchFamily="34" charset="-120"/>
              </a:rPr>
              <a:t>Design and Analysis of a Supermarket Database</a:t>
            </a:r>
            <a:endParaRPr lang="fr-FR" sz="4100" dirty="0">
              <a:solidFill>
                <a:srgbClr val="FFFFFF"/>
              </a:solidFill>
              <a:latin typeface="Unbounded" pitchFamily="34" charset="0"/>
              <a:ea typeface="Unbounded" pitchFamily="34" charset="-122"/>
              <a:cs typeface="Unbounded" pitchFamily="34" charset="-120"/>
            </a:endParaRPr>
          </a:p>
        </p:txBody>
      </p:sp>
      <p:sp>
        <p:nvSpPr>
          <p:cNvPr id="4" name="Text 1"/>
          <p:cNvSpPr/>
          <p:nvPr/>
        </p:nvSpPr>
        <p:spPr>
          <a:xfrm>
            <a:off x="6260902" y="3220998"/>
            <a:ext cx="7594997" cy="1416368"/>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This presentation presents our semester project for the EU4 of BUT Informatique at the IUT of Saint-</a:t>
            </a:r>
            <a:r>
              <a:rPr lang="en-US" sz="1700" dirty="0" err="1">
                <a:solidFill>
                  <a:srgbClr val="CAD6DE"/>
                </a:solidFill>
                <a:latin typeface="Cabin" pitchFamily="34" charset="0"/>
                <a:ea typeface="Cabin" pitchFamily="34" charset="-122"/>
                <a:cs typeface="Cabin" pitchFamily="34" charset="-120"/>
              </a:rPr>
              <a:t>Dié</a:t>
            </a:r>
            <a:r>
              <a:rPr lang="en-US" sz="1700" dirty="0">
                <a:solidFill>
                  <a:srgbClr val="CAD6DE"/>
                </a:solidFill>
                <a:latin typeface="Cabin" pitchFamily="34" charset="0"/>
                <a:ea typeface="Cabin" pitchFamily="34" charset="-122"/>
                <a:cs typeface="Cabin" pitchFamily="34" charset="-120"/>
              </a:rPr>
              <a:t>-des-Vosges. The main objective was to create a database for a supermarket, using various tools and developing our skills in data handling and statistics.</a:t>
            </a:r>
            <a:endParaRPr lang="en-US" sz="1700" dirty="0"/>
          </a:p>
        </p:txBody>
      </p:sp>
      <p:sp>
        <p:nvSpPr>
          <p:cNvPr id="5" name="Text 2"/>
          <p:cNvSpPr/>
          <p:nvPr/>
        </p:nvSpPr>
        <p:spPr>
          <a:xfrm>
            <a:off x="6260902" y="4886325"/>
            <a:ext cx="7594997" cy="1770459"/>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We chose this topic for its interest and feasibility, involving a variety of entities and numerical data essential to modeling and analysis. This project improved our skills in database design, SQL programming and statistical analysis, preparing us for effective data management.</a:t>
            </a:r>
            <a:endParaRPr lang="en-US" sz="1700" dirty="0"/>
          </a:p>
        </p:txBody>
      </p:sp>
      <p:sp>
        <p:nvSpPr>
          <p:cNvPr id="6" name="Shape 3"/>
          <p:cNvSpPr/>
          <p:nvPr/>
        </p:nvSpPr>
        <p:spPr>
          <a:xfrm>
            <a:off x="6260902" y="6922294"/>
            <a:ext cx="353973" cy="353973"/>
          </a:xfrm>
          <a:prstGeom prst="roundRect">
            <a:avLst>
              <a:gd name="adj" fmla="val 25829896"/>
            </a:avLst>
          </a:prstGeom>
          <a:noFill/>
          <a:ln w="7620">
            <a:solidFill>
              <a:srgbClr val="4D4D51"/>
            </a:solidFill>
            <a:prstDash val="solid"/>
          </a:ln>
        </p:spPr>
      </p:sp>
      <p:pic>
        <p:nvPicPr>
          <p:cNvPr id="7" name="Image 1" descr="preencoded.png"/>
          <p:cNvPicPr>
            <a:picLocks noChangeAspect="1"/>
          </p:cNvPicPr>
          <p:nvPr/>
        </p:nvPicPr>
        <p:blipFill>
          <a:blip r:embed="rId4"/>
          <a:stretch>
            <a:fillRect/>
          </a:stretch>
        </p:blipFill>
        <p:spPr>
          <a:xfrm>
            <a:off x="6268522" y="6929914"/>
            <a:ext cx="338733" cy="338733"/>
          </a:xfrm>
          <a:prstGeom prst="rect">
            <a:avLst/>
          </a:prstGeom>
        </p:spPr>
      </p:pic>
      <p:sp>
        <p:nvSpPr>
          <p:cNvPr id="8" name="Text 4"/>
          <p:cNvSpPr/>
          <p:nvPr/>
        </p:nvSpPr>
        <p:spPr>
          <a:xfrm>
            <a:off x="6725483" y="6905744"/>
            <a:ext cx="1448753" cy="387191"/>
          </a:xfrm>
          <a:prstGeom prst="rect">
            <a:avLst/>
          </a:prstGeom>
          <a:noFill/>
          <a:ln/>
        </p:spPr>
        <p:txBody>
          <a:bodyPr wrap="none" lIns="0" tIns="0" rIns="0" bIns="0" rtlCol="0" anchor="t"/>
          <a:lstStyle/>
          <a:p>
            <a:pPr marL="0" indent="0" algn="l">
              <a:lnSpc>
                <a:spcPts val="3000"/>
              </a:lnSpc>
              <a:buNone/>
            </a:pPr>
            <a:r>
              <a:rPr lang="en-US" sz="2150" b="1" dirty="0">
                <a:solidFill>
                  <a:srgbClr val="CAD6DE"/>
                </a:solidFill>
                <a:latin typeface="Cabin Bold" pitchFamily="34" charset="0"/>
                <a:ea typeface="Cabin Bold" pitchFamily="34" charset="-122"/>
                <a:cs typeface="Cabin Bold" pitchFamily="34" charset="-120"/>
              </a:rPr>
              <a:t>par Skython</a:t>
            </a:r>
            <a:endParaRPr lang="en-US" sz="2150" dirty="0"/>
          </a:p>
        </p:txBody>
      </p:sp>
      <p:sp>
        <p:nvSpPr>
          <p:cNvPr id="9" name="Rectangle 8">
            <a:extLst>
              <a:ext uri="{FF2B5EF4-FFF2-40B4-BE49-F238E27FC236}">
                <a16:creationId xmlns:a16="http://schemas.microsoft.com/office/drawing/2014/main" id="{48F78B18-B573-455C-B76A-AB0D004FF963}"/>
              </a:ext>
            </a:extLst>
          </p:cNvPr>
          <p:cNvSpPr/>
          <p:nvPr/>
        </p:nvSpPr>
        <p:spPr>
          <a:xfrm>
            <a:off x="11403105" y="7215902"/>
            <a:ext cx="3227295" cy="10136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155A38-5E51-45BB-81A1-C34E440E3290}"/>
              </a:ext>
            </a:extLst>
          </p:cNvPr>
          <p:cNvSpPr/>
          <p:nvPr/>
        </p:nvSpPr>
        <p:spPr>
          <a:xfrm>
            <a:off x="5836211" y="6592431"/>
            <a:ext cx="3227295" cy="10136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ZoneTexte 10">
            <a:extLst>
              <a:ext uri="{FF2B5EF4-FFF2-40B4-BE49-F238E27FC236}">
                <a16:creationId xmlns:a16="http://schemas.microsoft.com/office/drawing/2014/main" id="{1BAF0FCB-471A-403A-8068-CF0C75F0BE5B}"/>
              </a:ext>
            </a:extLst>
          </p:cNvPr>
          <p:cNvSpPr txBox="1"/>
          <p:nvPr/>
        </p:nvSpPr>
        <p:spPr>
          <a:xfrm>
            <a:off x="9843247" y="7292935"/>
            <a:ext cx="4012652" cy="646331"/>
          </a:xfrm>
          <a:prstGeom prst="rect">
            <a:avLst/>
          </a:prstGeom>
          <a:noFill/>
        </p:spPr>
        <p:txBody>
          <a:bodyPr wrap="square" rtlCol="0">
            <a:spAutoFit/>
          </a:bodyPr>
          <a:lstStyle/>
          <a:p>
            <a:r>
              <a:rPr lang="fr-FR" dirty="0">
                <a:solidFill>
                  <a:schemeClr val="bg1"/>
                </a:solidFill>
              </a:rPr>
              <a:t>Antoine Barthélémy, Lucas Cesar</a:t>
            </a:r>
          </a:p>
          <a:p>
            <a:pPr algn="ctr"/>
            <a:r>
              <a:rPr lang="fr-FR" dirty="0">
                <a:solidFill>
                  <a:schemeClr val="bg1"/>
                </a:solidFill>
              </a:rPr>
              <a:t> IUT of Saint-Dié-Des-Vosges</a:t>
            </a:r>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96516" y="864394"/>
            <a:ext cx="10082213" cy="585311"/>
          </a:xfrm>
          <a:prstGeom prst="rect">
            <a:avLst/>
          </a:prstGeom>
          <a:noFill/>
          <a:ln/>
        </p:spPr>
        <p:txBody>
          <a:bodyPr wrap="none" lIns="0" tIns="0" rIns="0" bIns="0" rtlCol="0" anchor="t"/>
          <a:lstStyle/>
          <a:p>
            <a:pPr marL="0" indent="0" algn="l">
              <a:lnSpc>
                <a:spcPts val="4600"/>
              </a:lnSpc>
              <a:buNone/>
            </a:pPr>
            <a:r>
              <a:rPr lang="en-US" sz="3650" dirty="0">
                <a:solidFill>
                  <a:srgbClr val="FFFFFF"/>
                </a:solidFill>
                <a:latin typeface="Unbounded" pitchFamily="34" charset="0"/>
                <a:ea typeface="Unbounded" pitchFamily="34" charset="-122"/>
                <a:cs typeface="Unbounded" pitchFamily="34" charset="-120"/>
              </a:rPr>
              <a:t>Analysis and identification of entities</a:t>
            </a:r>
            <a:endParaRPr lang="en-US" sz="3650" dirty="0"/>
          </a:p>
        </p:txBody>
      </p:sp>
      <p:sp>
        <p:nvSpPr>
          <p:cNvPr id="3" name="Text 1"/>
          <p:cNvSpPr/>
          <p:nvPr/>
        </p:nvSpPr>
        <p:spPr>
          <a:xfrm>
            <a:off x="696516" y="1847731"/>
            <a:ext cx="13237369" cy="636984"/>
          </a:xfrm>
          <a:prstGeom prst="rect">
            <a:avLst/>
          </a:prstGeom>
          <a:noFill/>
          <a:ln/>
        </p:spPr>
        <p:txBody>
          <a:bodyPr wrap="square" lIns="0" tIns="0" rIns="0" bIns="0" rtlCol="0" anchor="t"/>
          <a:lstStyle/>
          <a:p>
            <a:pPr marL="0" indent="0" algn="l">
              <a:lnSpc>
                <a:spcPts val="2500"/>
              </a:lnSpc>
              <a:buNone/>
            </a:pPr>
            <a:r>
              <a:rPr lang="en-US" sz="1550" dirty="0">
                <a:solidFill>
                  <a:srgbClr val="CAD6DE"/>
                </a:solidFill>
                <a:latin typeface="Cabin" pitchFamily="34" charset="0"/>
                <a:ea typeface="Cabin" pitchFamily="34" charset="-122"/>
                <a:cs typeface="Cabin" pitchFamily="34" charset="-120"/>
              </a:rPr>
              <a:t>This crucial step is to identify the entities, attributes and associations needed for our supermarket database. We conducted extensive research to understand the typical structures of supermarket databases, justifying our choices and quoting our sources.</a:t>
            </a:r>
            <a:endParaRPr lang="en-US" sz="1550" dirty="0"/>
          </a:p>
        </p:txBody>
      </p:sp>
      <p:sp>
        <p:nvSpPr>
          <p:cNvPr id="4" name="Text 2"/>
          <p:cNvSpPr/>
          <p:nvPr/>
        </p:nvSpPr>
        <p:spPr>
          <a:xfrm>
            <a:off x="696516" y="2708553"/>
            <a:ext cx="13237369" cy="636984"/>
          </a:xfrm>
          <a:prstGeom prst="rect">
            <a:avLst/>
          </a:prstGeom>
          <a:noFill/>
          <a:ln/>
        </p:spPr>
        <p:txBody>
          <a:bodyPr wrap="square" lIns="0" tIns="0" rIns="0" bIns="0" rtlCol="0" anchor="t"/>
          <a:lstStyle/>
          <a:p>
            <a:pPr marL="0" indent="0" algn="l">
              <a:lnSpc>
                <a:spcPts val="2500"/>
              </a:lnSpc>
              <a:buNone/>
            </a:pPr>
            <a:r>
              <a:rPr lang="en-US" sz="1550" dirty="0">
                <a:solidFill>
                  <a:srgbClr val="CAD6DE"/>
                </a:solidFill>
                <a:latin typeface="Cabin" pitchFamily="34" charset="0"/>
                <a:ea typeface="Cabin" pitchFamily="34" charset="-122"/>
                <a:cs typeface="Cabin" pitchFamily="34" charset="-120"/>
              </a:rPr>
              <a:t>It is important to note that this database is designed for the complete internal system of the supermarket, not for a customer application. This is why entities such as "Employee" are included. An entity is a numerical representation of a real-world object, described by attributes.</a:t>
            </a:r>
            <a:endParaRPr lang="en-US" sz="1550" dirty="0"/>
          </a:p>
        </p:txBody>
      </p:sp>
      <p:sp>
        <p:nvSpPr>
          <p:cNvPr id="5" name="Text 3"/>
          <p:cNvSpPr/>
          <p:nvPr/>
        </p:nvSpPr>
        <p:spPr>
          <a:xfrm>
            <a:off x="696516" y="3768328"/>
            <a:ext cx="2341364" cy="292656"/>
          </a:xfrm>
          <a:prstGeom prst="rect">
            <a:avLst/>
          </a:prstGeom>
          <a:noFill/>
          <a:ln/>
        </p:spPr>
        <p:txBody>
          <a:bodyPr wrap="none" lIns="0" tIns="0" rIns="0" bIns="0" rtlCol="0" anchor="t"/>
          <a:lstStyle/>
          <a:p>
            <a:pPr marL="0" indent="0" algn="l">
              <a:lnSpc>
                <a:spcPts val="2300"/>
              </a:lnSpc>
              <a:buNone/>
            </a:pPr>
            <a:r>
              <a:rPr lang="en-US" dirty="0">
                <a:solidFill>
                  <a:srgbClr val="FFFFFF"/>
                </a:solidFill>
                <a:latin typeface="Unbounded" pitchFamily="34" charset="0"/>
                <a:ea typeface="Unbounded" pitchFamily="34" charset="-122"/>
                <a:cs typeface="Unbounded" pitchFamily="34" charset="-120"/>
              </a:rPr>
              <a:t>K</a:t>
            </a:r>
            <a:r>
              <a:rPr lang="en-US" sz="1800" dirty="0">
                <a:solidFill>
                  <a:srgbClr val="FFFFFF"/>
                </a:solidFill>
                <a:latin typeface="Unbounded" pitchFamily="34" charset="0"/>
                <a:ea typeface="Unbounded" pitchFamily="34" charset="-122"/>
                <a:cs typeface="Unbounded" pitchFamily="34" charset="-120"/>
              </a:rPr>
              <a:t>ey entities</a:t>
            </a:r>
            <a:endParaRPr lang="en-US" sz="1800" dirty="0"/>
          </a:p>
        </p:txBody>
      </p:sp>
      <p:sp>
        <p:nvSpPr>
          <p:cNvPr id="6" name="Text 4"/>
          <p:cNvSpPr/>
          <p:nvPr/>
        </p:nvSpPr>
        <p:spPr>
          <a:xfrm>
            <a:off x="696516" y="4259937"/>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AD6DE"/>
                </a:solidFill>
                <a:latin typeface="Cabin" pitchFamily="34" charset="0"/>
                <a:ea typeface="Cabin" pitchFamily="34" charset="-122"/>
                <a:cs typeface="Cabin" pitchFamily="34" charset="-120"/>
              </a:rPr>
              <a:t>Customer</a:t>
            </a:r>
            <a:endParaRPr lang="en-US" sz="1550" dirty="0"/>
          </a:p>
        </p:txBody>
      </p:sp>
      <p:sp>
        <p:nvSpPr>
          <p:cNvPr id="7" name="Text 5"/>
          <p:cNvSpPr/>
          <p:nvPr/>
        </p:nvSpPr>
        <p:spPr>
          <a:xfrm>
            <a:off x="696516" y="4648081"/>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AD6DE"/>
                </a:solidFill>
                <a:latin typeface="Cabin" pitchFamily="34" charset="0"/>
                <a:ea typeface="Cabin" pitchFamily="34" charset="-122"/>
                <a:cs typeface="Cabin" pitchFamily="34" charset="-120"/>
              </a:rPr>
              <a:t>Product</a:t>
            </a:r>
            <a:endParaRPr lang="en-US" sz="1550" dirty="0"/>
          </a:p>
        </p:txBody>
      </p:sp>
      <p:sp>
        <p:nvSpPr>
          <p:cNvPr id="8" name="Text 6"/>
          <p:cNvSpPr/>
          <p:nvPr/>
        </p:nvSpPr>
        <p:spPr>
          <a:xfrm>
            <a:off x="696516" y="5036225"/>
            <a:ext cx="6375916" cy="318492"/>
          </a:xfrm>
          <a:prstGeom prst="rect">
            <a:avLst/>
          </a:prstGeom>
          <a:noFill/>
          <a:ln/>
        </p:spPr>
        <p:txBody>
          <a:bodyPr wrap="none" lIns="0" tIns="0" rIns="0" bIns="0" rtlCol="0" anchor="t"/>
          <a:lstStyle/>
          <a:p>
            <a:pPr marL="342900" indent="-342900" algn="l">
              <a:lnSpc>
                <a:spcPts val="2500"/>
              </a:lnSpc>
              <a:buSzPct val="100000"/>
              <a:buChar char="•"/>
            </a:pPr>
            <a:r>
              <a:rPr lang="fr-FR" sz="1550" dirty="0">
                <a:solidFill>
                  <a:srgbClr val="CAD6DE"/>
                </a:solidFill>
                <a:latin typeface="Cabin" pitchFamily="34" charset="0"/>
              </a:rPr>
              <a:t>B</a:t>
            </a:r>
            <a:r>
              <a:rPr lang="en-US" sz="1550" dirty="0">
                <a:solidFill>
                  <a:srgbClr val="CAD6DE"/>
                </a:solidFill>
                <a:latin typeface="Cabin" pitchFamily="34" charset="0"/>
              </a:rPr>
              <a:t>ill</a:t>
            </a:r>
            <a:endParaRPr lang="en-US" sz="1550" dirty="0"/>
          </a:p>
        </p:txBody>
      </p:sp>
      <p:sp>
        <p:nvSpPr>
          <p:cNvPr id="9" name="Text 7"/>
          <p:cNvSpPr/>
          <p:nvPr/>
        </p:nvSpPr>
        <p:spPr>
          <a:xfrm>
            <a:off x="696516" y="5424368"/>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AD6DE"/>
                </a:solidFill>
                <a:latin typeface="Cabin" pitchFamily="34" charset="0"/>
                <a:ea typeface="Cabin" pitchFamily="34" charset="-122"/>
                <a:cs typeface="Cabin" pitchFamily="34" charset="-120"/>
              </a:rPr>
              <a:t>Supplier</a:t>
            </a:r>
            <a:endParaRPr lang="en-US" sz="1550" dirty="0"/>
          </a:p>
        </p:txBody>
      </p:sp>
      <p:sp>
        <p:nvSpPr>
          <p:cNvPr id="10" name="Text 8"/>
          <p:cNvSpPr/>
          <p:nvPr/>
        </p:nvSpPr>
        <p:spPr>
          <a:xfrm>
            <a:off x="696516" y="5812512"/>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AD6DE"/>
                </a:solidFill>
                <a:latin typeface="Cabin" pitchFamily="34" charset="0"/>
                <a:ea typeface="Cabin" pitchFamily="34" charset="-122"/>
                <a:cs typeface="Cabin" pitchFamily="34" charset="-120"/>
              </a:rPr>
              <a:t>Employee</a:t>
            </a:r>
            <a:endParaRPr lang="en-US" sz="1550" dirty="0"/>
          </a:p>
        </p:txBody>
      </p:sp>
      <p:sp>
        <p:nvSpPr>
          <p:cNvPr id="11" name="Text 9"/>
          <p:cNvSpPr/>
          <p:nvPr/>
        </p:nvSpPr>
        <p:spPr>
          <a:xfrm>
            <a:off x="696516" y="6200656"/>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AD6DE"/>
                </a:solidFill>
                <a:latin typeface="Cabin" pitchFamily="34" charset="0"/>
                <a:ea typeface="Cabin" pitchFamily="34" charset="-122"/>
                <a:cs typeface="Cabin" pitchFamily="34" charset="-120"/>
              </a:rPr>
              <a:t>Department</a:t>
            </a:r>
            <a:endParaRPr lang="en-US" sz="1550" dirty="0"/>
          </a:p>
        </p:txBody>
      </p:sp>
      <p:sp>
        <p:nvSpPr>
          <p:cNvPr id="12" name="Text 10"/>
          <p:cNvSpPr/>
          <p:nvPr/>
        </p:nvSpPr>
        <p:spPr>
          <a:xfrm>
            <a:off x="696516" y="6588800"/>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AD6DE"/>
                </a:solidFill>
                <a:latin typeface="Cabin" pitchFamily="34" charset="0"/>
                <a:ea typeface="Cabin" pitchFamily="34" charset="-122"/>
                <a:cs typeface="Cabin" pitchFamily="34" charset="-120"/>
              </a:rPr>
              <a:t>Sale</a:t>
            </a:r>
            <a:endParaRPr lang="en-US" sz="1550" dirty="0"/>
          </a:p>
        </p:txBody>
      </p:sp>
      <p:sp>
        <p:nvSpPr>
          <p:cNvPr id="13" name="Text 11"/>
          <p:cNvSpPr/>
          <p:nvPr/>
        </p:nvSpPr>
        <p:spPr>
          <a:xfrm>
            <a:off x="696516" y="6976943"/>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AD6DE"/>
                </a:solidFill>
                <a:latin typeface="Cabin" pitchFamily="34" charset="0"/>
                <a:ea typeface="Cabin" pitchFamily="34" charset="-122"/>
                <a:cs typeface="Cabin" pitchFamily="34" charset="-120"/>
              </a:rPr>
              <a:t>Basket</a:t>
            </a:r>
            <a:endParaRPr lang="en-US" sz="1550" dirty="0"/>
          </a:p>
        </p:txBody>
      </p:sp>
      <p:sp>
        <p:nvSpPr>
          <p:cNvPr id="14" name="Text 12"/>
          <p:cNvSpPr/>
          <p:nvPr/>
        </p:nvSpPr>
        <p:spPr>
          <a:xfrm>
            <a:off x="7565588" y="3768328"/>
            <a:ext cx="2806660" cy="292656"/>
          </a:xfrm>
          <a:prstGeom prst="rect">
            <a:avLst/>
          </a:prstGeom>
          <a:noFill/>
          <a:ln/>
        </p:spPr>
        <p:txBody>
          <a:bodyPr wrap="none" lIns="0" tIns="0" rIns="0" bIns="0" rtlCol="0" anchor="t"/>
          <a:lstStyle/>
          <a:p>
            <a:pPr marL="0" indent="0" algn="l">
              <a:lnSpc>
                <a:spcPts val="2300"/>
              </a:lnSpc>
              <a:buNone/>
            </a:pPr>
            <a:r>
              <a:rPr lang="en-US" dirty="0">
                <a:solidFill>
                  <a:srgbClr val="FFFFFF"/>
                </a:solidFill>
                <a:latin typeface="Unbounded" pitchFamily="34" charset="0"/>
                <a:ea typeface="Unbounded" pitchFamily="34" charset="-122"/>
                <a:cs typeface="Unbounded" pitchFamily="34" charset="-120"/>
              </a:rPr>
              <a:t>S</a:t>
            </a:r>
            <a:r>
              <a:rPr lang="en-US" sz="1800" dirty="0">
                <a:solidFill>
                  <a:srgbClr val="FFFFFF"/>
                </a:solidFill>
                <a:latin typeface="Unbounded" pitchFamily="34" charset="0"/>
                <a:ea typeface="Unbounded" pitchFamily="34" charset="-122"/>
                <a:cs typeface="Unbounded" pitchFamily="34" charset="-120"/>
              </a:rPr>
              <a:t>econdary entities</a:t>
            </a:r>
            <a:endParaRPr lang="en-US" sz="1800" dirty="0"/>
          </a:p>
        </p:txBody>
      </p:sp>
      <p:sp>
        <p:nvSpPr>
          <p:cNvPr id="15" name="Text 13"/>
          <p:cNvSpPr/>
          <p:nvPr/>
        </p:nvSpPr>
        <p:spPr>
          <a:xfrm>
            <a:off x="7565588" y="4259937"/>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AD6DE"/>
                </a:solidFill>
                <a:latin typeface="Cabin" pitchFamily="34" charset="0"/>
                <a:ea typeface="Cabin" pitchFamily="34" charset="-122"/>
                <a:cs typeface="Cabin" pitchFamily="34" charset="-120"/>
              </a:rPr>
              <a:t>Promotion</a:t>
            </a:r>
            <a:endParaRPr lang="en-US" sz="1550" dirty="0"/>
          </a:p>
        </p:txBody>
      </p:sp>
      <p:sp>
        <p:nvSpPr>
          <p:cNvPr id="16" name="Text 14"/>
          <p:cNvSpPr/>
          <p:nvPr/>
        </p:nvSpPr>
        <p:spPr>
          <a:xfrm>
            <a:off x="7565588" y="4648081"/>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CAD6DE"/>
                </a:solidFill>
                <a:latin typeface="Cabin" pitchFamily="34" charset="0"/>
                <a:ea typeface="Cabin" pitchFamily="34" charset="-122"/>
                <a:cs typeface="Cabin" pitchFamily="34" charset="-120"/>
              </a:rPr>
              <a:t>ProductRating</a:t>
            </a:r>
            <a:endParaRPr lang="en-US" sz="1550" dirty="0"/>
          </a:p>
        </p:txBody>
      </p:sp>
      <p:sp>
        <p:nvSpPr>
          <p:cNvPr id="17" name="Text 15"/>
          <p:cNvSpPr/>
          <p:nvPr/>
        </p:nvSpPr>
        <p:spPr>
          <a:xfrm>
            <a:off x="7565588" y="5036225"/>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AD6DE"/>
                </a:solidFill>
                <a:latin typeface="Cabin" pitchFamily="34" charset="0"/>
                <a:ea typeface="Cabin" pitchFamily="34" charset="-122"/>
                <a:cs typeface="Cabin" pitchFamily="34" charset="-120"/>
              </a:rPr>
              <a:t>Stock</a:t>
            </a:r>
            <a:endParaRPr lang="en-US" sz="1550" dirty="0"/>
          </a:p>
        </p:txBody>
      </p:sp>
      <p:sp>
        <p:nvSpPr>
          <p:cNvPr id="18" name="Text 16"/>
          <p:cNvSpPr/>
          <p:nvPr/>
        </p:nvSpPr>
        <p:spPr>
          <a:xfrm>
            <a:off x="7565588" y="5424368"/>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CAD6DE"/>
                </a:solidFill>
                <a:latin typeface="Cabin" pitchFamily="34" charset="0"/>
                <a:ea typeface="Cabin" pitchFamily="34" charset="-122"/>
                <a:cs typeface="Cabin" pitchFamily="34" charset="-120"/>
              </a:rPr>
              <a:t>PurchaseOrder</a:t>
            </a:r>
            <a:endParaRPr lang="en-US" sz="1550" dirty="0"/>
          </a:p>
        </p:txBody>
      </p:sp>
      <p:sp>
        <p:nvSpPr>
          <p:cNvPr id="19" name="Text 17"/>
          <p:cNvSpPr/>
          <p:nvPr/>
        </p:nvSpPr>
        <p:spPr>
          <a:xfrm>
            <a:off x="7565588" y="5812512"/>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CAD6DE"/>
                </a:solidFill>
                <a:latin typeface="Cabin" pitchFamily="34" charset="0"/>
                <a:ea typeface="Cabin" pitchFamily="34" charset="-122"/>
                <a:cs typeface="Cabin" pitchFamily="34" charset="-120"/>
              </a:rPr>
              <a:t>BillLine</a:t>
            </a:r>
            <a:endParaRPr lang="en-US" sz="1550" dirty="0"/>
          </a:p>
        </p:txBody>
      </p:sp>
      <p:sp>
        <p:nvSpPr>
          <p:cNvPr id="20" name="Text 18"/>
          <p:cNvSpPr/>
          <p:nvPr/>
        </p:nvSpPr>
        <p:spPr>
          <a:xfrm>
            <a:off x="7565588" y="6200656"/>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CAD6DE"/>
                </a:solidFill>
                <a:latin typeface="Cabin" pitchFamily="34" charset="0"/>
                <a:ea typeface="Cabin" pitchFamily="34" charset="-122"/>
                <a:cs typeface="Cabin" pitchFamily="34" charset="-120"/>
              </a:rPr>
              <a:t>BasketLine</a:t>
            </a:r>
            <a:endParaRPr lang="en-US" sz="1550" dirty="0"/>
          </a:p>
        </p:txBody>
      </p:sp>
      <p:sp>
        <p:nvSpPr>
          <p:cNvPr id="21" name="Text 19"/>
          <p:cNvSpPr/>
          <p:nvPr/>
        </p:nvSpPr>
        <p:spPr>
          <a:xfrm>
            <a:off x="7565588" y="6588800"/>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CAD6DE"/>
                </a:solidFill>
                <a:latin typeface="Cabin" pitchFamily="34" charset="0"/>
                <a:ea typeface="Cabin" pitchFamily="34" charset="-122"/>
                <a:cs typeface="Cabin" pitchFamily="34" charset="-120"/>
              </a:rPr>
              <a:t>PromotionProduct</a:t>
            </a:r>
            <a:endParaRPr lang="en-US" sz="1550" dirty="0"/>
          </a:p>
        </p:txBody>
      </p:sp>
      <p:sp>
        <p:nvSpPr>
          <p:cNvPr id="22" name="Text 20"/>
          <p:cNvSpPr/>
          <p:nvPr/>
        </p:nvSpPr>
        <p:spPr>
          <a:xfrm>
            <a:off x="7565588" y="6976943"/>
            <a:ext cx="6375916" cy="318492"/>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CAD6DE"/>
                </a:solidFill>
                <a:latin typeface="Cabin" pitchFamily="34" charset="0"/>
                <a:ea typeface="Cabin" pitchFamily="34" charset="-122"/>
                <a:cs typeface="Cabin" pitchFamily="34" charset="-120"/>
              </a:rPr>
              <a:t>SaleLine</a:t>
            </a:r>
            <a:endParaRPr lang="en-US" sz="1550" dirty="0"/>
          </a:p>
        </p:txBody>
      </p:sp>
      <p:sp>
        <p:nvSpPr>
          <p:cNvPr id="23" name="Rectangle 22">
            <a:extLst>
              <a:ext uri="{FF2B5EF4-FFF2-40B4-BE49-F238E27FC236}">
                <a16:creationId xmlns:a16="http://schemas.microsoft.com/office/drawing/2014/main" id="{0EE5F4D0-806E-4FD2-8046-86F6974F209E}"/>
              </a:ext>
            </a:extLst>
          </p:cNvPr>
          <p:cNvSpPr/>
          <p:nvPr/>
        </p:nvSpPr>
        <p:spPr>
          <a:xfrm>
            <a:off x="11403105" y="7215902"/>
            <a:ext cx="3227295" cy="10136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273737"/>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Supermarket Data Analysis: Key Insights</a:t>
            </a:r>
            <a:endParaRPr lang="en-US" sz="4400" dirty="0"/>
          </a:p>
        </p:txBody>
      </p:sp>
      <p:sp>
        <p:nvSpPr>
          <p:cNvPr id="4" name="Text 1"/>
          <p:cNvSpPr/>
          <p:nvPr/>
        </p:nvSpPr>
        <p:spPr>
          <a:xfrm>
            <a:off x="837724" y="4040743"/>
            <a:ext cx="7468553" cy="1915120"/>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This presentation delves into key attributes of supermarket data, including average basket size, critical stock levels, and the tension between sales and stock. We will explore the methodologies, calculations, and interpretations of these analyses, providing valuable insights for strategic business decisions.</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2578333" y="660320"/>
            <a:ext cx="9473734" cy="1013698"/>
          </a:xfrm>
          <a:prstGeom prst="rect">
            <a:avLst/>
          </a:prstGeom>
          <a:noFill/>
          <a:ln/>
        </p:spPr>
        <p:txBody>
          <a:bodyPr wrap="square" lIns="0" tIns="0" rIns="0" bIns="0" rtlCol="0" anchor="t"/>
          <a:lstStyle/>
          <a:p>
            <a:pPr marL="0" indent="0" algn="l">
              <a:lnSpc>
                <a:spcPts val="4950"/>
              </a:lnSpc>
              <a:buNone/>
            </a:pPr>
            <a:r>
              <a:rPr lang="en-US" sz="3950" dirty="0">
                <a:solidFill>
                  <a:srgbClr val="FFFFFF"/>
                </a:solidFill>
                <a:latin typeface="Unbounded" pitchFamily="34" charset="0"/>
                <a:ea typeface="Unbounded" pitchFamily="34" charset="-122"/>
                <a:cs typeface="Unbounded" pitchFamily="34" charset="-120"/>
              </a:rPr>
              <a:t>Analysis: Average Basket Size</a:t>
            </a:r>
            <a:endParaRPr lang="en-US" sz="3950" dirty="0"/>
          </a:p>
        </p:txBody>
      </p:sp>
      <p:sp>
        <p:nvSpPr>
          <p:cNvPr id="4" name="Shape 1"/>
          <p:cNvSpPr/>
          <p:nvPr/>
        </p:nvSpPr>
        <p:spPr>
          <a:xfrm>
            <a:off x="6241018" y="2450068"/>
            <a:ext cx="485061" cy="485061"/>
          </a:xfrm>
          <a:prstGeom prst="roundRect">
            <a:avLst>
              <a:gd name="adj" fmla="val 6668"/>
            </a:avLst>
          </a:prstGeom>
          <a:solidFill>
            <a:srgbClr val="304755"/>
          </a:solidFill>
          <a:ln/>
        </p:spPr>
      </p:sp>
      <p:sp>
        <p:nvSpPr>
          <p:cNvPr id="5" name="Text 2"/>
          <p:cNvSpPr/>
          <p:nvPr/>
        </p:nvSpPr>
        <p:spPr>
          <a:xfrm>
            <a:off x="6331387" y="2502396"/>
            <a:ext cx="304324" cy="380405"/>
          </a:xfrm>
          <a:prstGeom prst="rect">
            <a:avLst/>
          </a:prstGeom>
          <a:noFill/>
          <a:ln/>
        </p:spPr>
        <p:txBody>
          <a:bodyPr wrap="none" lIns="0" tIns="0" rIns="0" bIns="0" rtlCol="0" anchor="t"/>
          <a:lstStyle/>
          <a:p>
            <a:pPr marL="0" indent="0" algn="ctr">
              <a:lnSpc>
                <a:spcPts val="2350"/>
              </a:lnSpc>
              <a:buNone/>
            </a:pPr>
            <a:r>
              <a:rPr lang="en-US" sz="2350" dirty="0">
                <a:solidFill>
                  <a:srgbClr val="CAD6DE"/>
                </a:solidFill>
                <a:latin typeface="Unbounded" pitchFamily="34" charset="0"/>
                <a:ea typeface="Unbounded" pitchFamily="34" charset="-122"/>
                <a:cs typeface="Unbounded" pitchFamily="34" charset="-120"/>
              </a:rPr>
              <a:t>1</a:t>
            </a:r>
            <a:endParaRPr lang="en-US" sz="2350" dirty="0"/>
          </a:p>
        </p:txBody>
      </p:sp>
      <p:sp>
        <p:nvSpPr>
          <p:cNvPr id="6" name="Text 3"/>
          <p:cNvSpPr/>
          <p:nvPr/>
        </p:nvSpPr>
        <p:spPr>
          <a:xfrm>
            <a:off x="6941582" y="2524125"/>
            <a:ext cx="2835235" cy="316944"/>
          </a:xfrm>
          <a:prstGeom prst="rect">
            <a:avLst/>
          </a:prstGeom>
          <a:noFill/>
          <a:ln/>
        </p:spPr>
        <p:txBody>
          <a:bodyPr wrap="non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Indicator Selection</a:t>
            </a:r>
            <a:endParaRPr lang="en-US" sz="1950" dirty="0"/>
          </a:p>
        </p:txBody>
      </p:sp>
      <p:sp>
        <p:nvSpPr>
          <p:cNvPr id="7" name="Text 4"/>
          <p:cNvSpPr/>
          <p:nvPr/>
        </p:nvSpPr>
        <p:spPr>
          <a:xfrm>
            <a:off x="6941582" y="2970371"/>
            <a:ext cx="2982158" cy="2414468"/>
          </a:xfrm>
          <a:prstGeom prst="rect">
            <a:avLst/>
          </a:prstGeom>
          <a:noFill/>
          <a:ln/>
        </p:spPr>
        <p:txBody>
          <a:bodyPr wrap="square" lIns="0" tIns="0" rIns="0" bIns="0" rtlCol="0" anchor="t"/>
          <a:lstStyle/>
          <a:p>
            <a:pPr marL="0" indent="0" algn="l">
              <a:lnSpc>
                <a:spcPts val="2700"/>
              </a:lnSpc>
              <a:buNone/>
            </a:pPr>
            <a:r>
              <a:rPr lang="en-US" sz="1650" dirty="0">
                <a:solidFill>
                  <a:srgbClr val="CAD6DE"/>
                </a:solidFill>
                <a:latin typeface="Cabin" pitchFamily="34" charset="0"/>
                <a:ea typeface="Cabin" pitchFamily="34" charset="-122"/>
                <a:cs typeface="Cabin" pitchFamily="34" charset="-120"/>
              </a:rPr>
              <a:t>We selected average and standard deviation to analyze basket amounts. The average is preferred over the median due to the absence of outliers, while standard deviation measures purchase homogeneity.</a:t>
            </a:r>
            <a:endParaRPr lang="en-US" sz="1650" dirty="0"/>
          </a:p>
        </p:txBody>
      </p:sp>
      <p:sp>
        <p:nvSpPr>
          <p:cNvPr id="8" name="Shape 5"/>
          <p:cNvSpPr/>
          <p:nvPr/>
        </p:nvSpPr>
        <p:spPr>
          <a:xfrm>
            <a:off x="10193179" y="2450068"/>
            <a:ext cx="485061" cy="485061"/>
          </a:xfrm>
          <a:prstGeom prst="roundRect">
            <a:avLst>
              <a:gd name="adj" fmla="val 6668"/>
            </a:avLst>
          </a:prstGeom>
          <a:solidFill>
            <a:srgbClr val="304755"/>
          </a:solidFill>
          <a:ln/>
        </p:spPr>
      </p:sp>
      <p:sp>
        <p:nvSpPr>
          <p:cNvPr id="9" name="Text 6"/>
          <p:cNvSpPr/>
          <p:nvPr/>
        </p:nvSpPr>
        <p:spPr>
          <a:xfrm>
            <a:off x="10283547" y="2502396"/>
            <a:ext cx="304324" cy="380405"/>
          </a:xfrm>
          <a:prstGeom prst="rect">
            <a:avLst/>
          </a:prstGeom>
          <a:noFill/>
          <a:ln/>
        </p:spPr>
        <p:txBody>
          <a:bodyPr wrap="none" lIns="0" tIns="0" rIns="0" bIns="0" rtlCol="0" anchor="t"/>
          <a:lstStyle/>
          <a:p>
            <a:pPr marL="0" indent="0" algn="ctr">
              <a:lnSpc>
                <a:spcPts val="2350"/>
              </a:lnSpc>
              <a:buNone/>
            </a:pPr>
            <a:r>
              <a:rPr lang="en-US" sz="2350" dirty="0">
                <a:solidFill>
                  <a:srgbClr val="CAD6DE"/>
                </a:solidFill>
                <a:latin typeface="Unbounded" pitchFamily="34" charset="0"/>
                <a:ea typeface="Unbounded" pitchFamily="34" charset="-122"/>
                <a:cs typeface="Unbounded" pitchFamily="34" charset="-120"/>
              </a:rPr>
              <a:t>2</a:t>
            </a:r>
            <a:endParaRPr lang="en-US" sz="2350" dirty="0"/>
          </a:p>
        </p:txBody>
      </p:sp>
      <p:sp>
        <p:nvSpPr>
          <p:cNvPr id="10" name="Text 7"/>
          <p:cNvSpPr/>
          <p:nvPr/>
        </p:nvSpPr>
        <p:spPr>
          <a:xfrm>
            <a:off x="10893743" y="2524125"/>
            <a:ext cx="2536508" cy="316944"/>
          </a:xfrm>
          <a:prstGeom prst="rect">
            <a:avLst/>
          </a:prstGeom>
          <a:noFill/>
          <a:ln/>
        </p:spPr>
        <p:txBody>
          <a:bodyPr wrap="non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Calculations</a:t>
            </a:r>
            <a:endParaRPr lang="en-US" sz="1950" dirty="0"/>
          </a:p>
        </p:txBody>
      </p:sp>
      <p:sp>
        <p:nvSpPr>
          <p:cNvPr id="11" name="Text 8"/>
          <p:cNvSpPr/>
          <p:nvPr/>
        </p:nvSpPr>
        <p:spPr>
          <a:xfrm>
            <a:off x="10893743" y="2970371"/>
            <a:ext cx="2982158" cy="2069544"/>
          </a:xfrm>
          <a:prstGeom prst="rect">
            <a:avLst/>
          </a:prstGeom>
          <a:noFill/>
          <a:ln/>
        </p:spPr>
        <p:txBody>
          <a:bodyPr wrap="square" lIns="0" tIns="0" rIns="0" bIns="0" rtlCol="0" anchor="t"/>
          <a:lstStyle/>
          <a:p>
            <a:pPr marL="0" indent="0" algn="l">
              <a:lnSpc>
                <a:spcPts val="2700"/>
              </a:lnSpc>
              <a:buNone/>
            </a:pPr>
            <a:r>
              <a:rPr lang="en-US" sz="1650" dirty="0">
                <a:solidFill>
                  <a:srgbClr val="CAD6DE"/>
                </a:solidFill>
                <a:latin typeface="Cabin" pitchFamily="34" charset="0"/>
                <a:ea typeface="Cabin" pitchFamily="34" charset="-122"/>
                <a:cs typeface="Cabin" pitchFamily="34" charset="-120"/>
              </a:rPr>
              <a:t>The average basket amount is €28.02, calculated using a weighted sum of basket values. The variance is 231.64€², leading to a standard deviation of €15.22.</a:t>
            </a:r>
            <a:endParaRPr lang="en-US" sz="1650" dirty="0"/>
          </a:p>
        </p:txBody>
      </p:sp>
      <p:sp>
        <p:nvSpPr>
          <p:cNvPr id="12" name="Shape 9"/>
          <p:cNvSpPr/>
          <p:nvPr/>
        </p:nvSpPr>
        <p:spPr>
          <a:xfrm>
            <a:off x="6241018" y="5815965"/>
            <a:ext cx="485061" cy="485061"/>
          </a:xfrm>
          <a:prstGeom prst="roundRect">
            <a:avLst>
              <a:gd name="adj" fmla="val 6668"/>
            </a:avLst>
          </a:prstGeom>
          <a:solidFill>
            <a:srgbClr val="304755"/>
          </a:solidFill>
          <a:ln/>
        </p:spPr>
      </p:sp>
      <p:sp>
        <p:nvSpPr>
          <p:cNvPr id="13" name="Text 10"/>
          <p:cNvSpPr/>
          <p:nvPr/>
        </p:nvSpPr>
        <p:spPr>
          <a:xfrm>
            <a:off x="6331387" y="5868293"/>
            <a:ext cx="304324" cy="380405"/>
          </a:xfrm>
          <a:prstGeom prst="rect">
            <a:avLst/>
          </a:prstGeom>
          <a:noFill/>
          <a:ln/>
        </p:spPr>
        <p:txBody>
          <a:bodyPr wrap="none" lIns="0" tIns="0" rIns="0" bIns="0" rtlCol="0" anchor="t"/>
          <a:lstStyle/>
          <a:p>
            <a:pPr marL="0" indent="0" algn="ctr">
              <a:lnSpc>
                <a:spcPts val="2350"/>
              </a:lnSpc>
              <a:buNone/>
            </a:pPr>
            <a:r>
              <a:rPr lang="en-US" sz="2350" dirty="0">
                <a:solidFill>
                  <a:srgbClr val="CAD6DE"/>
                </a:solidFill>
                <a:latin typeface="Unbounded" pitchFamily="34" charset="0"/>
                <a:ea typeface="Unbounded" pitchFamily="34" charset="-122"/>
                <a:cs typeface="Unbounded" pitchFamily="34" charset="-120"/>
              </a:rPr>
              <a:t>3</a:t>
            </a:r>
            <a:endParaRPr lang="en-US" sz="2350" dirty="0"/>
          </a:p>
        </p:txBody>
      </p:sp>
      <p:sp>
        <p:nvSpPr>
          <p:cNvPr id="14" name="Text 11"/>
          <p:cNvSpPr/>
          <p:nvPr/>
        </p:nvSpPr>
        <p:spPr>
          <a:xfrm>
            <a:off x="6941582" y="5890022"/>
            <a:ext cx="2536508" cy="316944"/>
          </a:xfrm>
          <a:prstGeom prst="rect">
            <a:avLst/>
          </a:prstGeom>
          <a:noFill/>
          <a:ln/>
        </p:spPr>
        <p:txBody>
          <a:bodyPr wrap="non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Interpretation</a:t>
            </a:r>
            <a:endParaRPr lang="en-US" sz="1950" dirty="0"/>
          </a:p>
        </p:txBody>
      </p:sp>
      <p:sp>
        <p:nvSpPr>
          <p:cNvPr id="15" name="Text 12"/>
          <p:cNvSpPr/>
          <p:nvPr/>
        </p:nvSpPr>
        <p:spPr>
          <a:xfrm>
            <a:off x="6941582" y="6336268"/>
            <a:ext cx="6934200" cy="1034772"/>
          </a:xfrm>
          <a:prstGeom prst="rect">
            <a:avLst/>
          </a:prstGeom>
          <a:noFill/>
          <a:ln/>
        </p:spPr>
        <p:txBody>
          <a:bodyPr wrap="square" lIns="0" tIns="0" rIns="0" bIns="0" rtlCol="0" anchor="t"/>
          <a:lstStyle/>
          <a:p>
            <a:pPr marL="0" indent="0" algn="l">
              <a:lnSpc>
                <a:spcPts val="2700"/>
              </a:lnSpc>
              <a:buNone/>
            </a:pPr>
            <a:r>
              <a:rPr lang="en-US" sz="1650" dirty="0">
                <a:solidFill>
                  <a:srgbClr val="CAD6DE"/>
                </a:solidFill>
                <a:latin typeface="Cabin" pitchFamily="34" charset="0"/>
                <a:ea typeface="Cabin" pitchFamily="34" charset="-122"/>
                <a:cs typeface="Cabin" pitchFamily="34" charset="-120"/>
              </a:rPr>
              <a:t>The average of €28.02, slightly inflated by some expensive baskets, and a high standard deviation of €15.22, indicate significant variability in customer spending.</a:t>
            </a:r>
            <a:endParaRPr lang="en-US" sz="1650" dirty="0"/>
          </a:p>
        </p:txBody>
      </p:sp>
      <p:pic>
        <p:nvPicPr>
          <p:cNvPr id="25" name="Image 24">
            <a:extLst>
              <a:ext uri="{FF2B5EF4-FFF2-40B4-BE49-F238E27FC236}">
                <a16:creationId xmlns:a16="http://schemas.microsoft.com/office/drawing/2014/main" id="{15910095-3D76-460D-8135-9D83FB174DB4}"/>
              </a:ext>
            </a:extLst>
          </p:cNvPr>
          <p:cNvPicPr>
            <a:picLocks noChangeAspect="1"/>
          </p:cNvPicPr>
          <p:nvPr/>
        </p:nvPicPr>
        <p:blipFill>
          <a:blip r:embed="rId3"/>
          <a:stretch>
            <a:fillRect/>
          </a:stretch>
        </p:blipFill>
        <p:spPr>
          <a:xfrm>
            <a:off x="158746" y="1507639"/>
            <a:ext cx="5756279" cy="5756279"/>
          </a:xfrm>
          <a:prstGeom prst="rect">
            <a:avLst/>
          </a:prstGeom>
        </p:spPr>
      </p:pic>
      <p:sp>
        <p:nvSpPr>
          <p:cNvPr id="26" name="Rectangle 25">
            <a:extLst>
              <a:ext uri="{FF2B5EF4-FFF2-40B4-BE49-F238E27FC236}">
                <a16:creationId xmlns:a16="http://schemas.microsoft.com/office/drawing/2014/main" id="{722706DC-9773-4E92-A6A6-AD49858F6842}"/>
              </a:ext>
            </a:extLst>
          </p:cNvPr>
          <p:cNvSpPr/>
          <p:nvPr/>
        </p:nvSpPr>
        <p:spPr>
          <a:xfrm>
            <a:off x="11403105" y="7215902"/>
            <a:ext cx="3227295" cy="10136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551623"/>
            <a:ext cx="12817673"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Average Basket: Detailed Calculations</a:t>
            </a:r>
            <a:endParaRPr lang="en-US" sz="4400" dirty="0"/>
          </a:p>
        </p:txBody>
      </p:sp>
      <p:sp>
        <p:nvSpPr>
          <p:cNvPr id="3" name="Text 1"/>
          <p:cNvSpPr/>
          <p:nvPr/>
        </p:nvSpPr>
        <p:spPr>
          <a:xfrm>
            <a:off x="837724" y="2853928"/>
            <a:ext cx="3393877"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Average Calculation</a:t>
            </a:r>
            <a:endParaRPr lang="en-US" sz="2200" dirty="0"/>
          </a:p>
        </p:txBody>
      </p:sp>
      <p:sp>
        <p:nvSpPr>
          <p:cNvPr id="4" name="Text 2"/>
          <p:cNvSpPr/>
          <p:nvPr/>
        </p:nvSpPr>
        <p:spPr>
          <a:xfrm>
            <a:off x="837724" y="3445193"/>
            <a:ext cx="3928586" cy="1532096"/>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The average basket value is €28.02. This is derived from the formula: (0.02 × 7) + (0.04 × 9) + (0.06 × 10) … + (0.02 × 64).</a:t>
            </a:r>
            <a:endParaRPr lang="en-US" sz="1850" dirty="0"/>
          </a:p>
        </p:txBody>
      </p:sp>
      <p:pic>
        <p:nvPicPr>
          <p:cNvPr id="5" name="Image 0" descr="preencoded.png"/>
          <p:cNvPicPr>
            <a:picLocks noChangeAspect="1"/>
          </p:cNvPicPr>
          <p:nvPr/>
        </p:nvPicPr>
        <p:blipFill>
          <a:blip r:embed="rId3"/>
          <a:stretch>
            <a:fillRect/>
          </a:stretch>
        </p:blipFill>
        <p:spPr>
          <a:xfrm>
            <a:off x="837724" y="5246489"/>
            <a:ext cx="2800038" cy="766048"/>
          </a:xfrm>
          <a:prstGeom prst="rect">
            <a:avLst/>
          </a:prstGeom>
        </p:spPr>
      </p:pic>
      <p:sp>
        <p:nvSpPr>
          <p:cNvPr id="6" name="Text 3"/>
          <p:cNvSpPr/>
          <p:nvPr/>
        </p:nvSpPr>
        <p:spPr>
          <a:xfrm>
            <a:off x="5357813" y="2853928"/>
            <a:ext cx="3485078"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Variance Calculation</a:t>
            </a:r>
            <a:endParaRPr lang="en-US" sz="2200" dirty="0"/>
          </a:p>
        </p:txBody>
      </p:sp>
      <p:sp>
        <p:nvSpPr>
          <p:cNvPr id="7" name="Text 4"/>
          <p:cNvSpPr/>
          <p:nvPr/>
        </p:nvSpPr>
        <p:spPr>
          <a:xfrm>
            <a:off x="5357813" y="3445193"/>
            <a:ext cx="3928586" cy="2298144"/>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The variance, an intermediate step for standard deviation, measures the dispersion of squared values. It is calculated as 0.02 × (7 − 28.02)² + 0.04 × (9 − 28.02)² + … + 0.02 × (64 − 28.02)² = 231.64€².</a:t>
            </a:r>
            <a:endParaRPr lang="en-US" sz="1850" dirty="0"/>
          </a:p>
        </p:txBody>
      </p:sp>
      <p:pic>
        <p:nvPicPr>
          <p:cNvPr id="8" name="Image 1" descr="preencoded.png"/>
          <p:cNvPicPr>
            <a:picLocks noChangeAspect="1"/>
          </p:cNvPicPr>
          <p:nvPr/>
        </p:nvPicPr>
        <p:blipFill>
          <a:blip r:embed="rId4"/>
          <a:stretch>
            <a:fillRect/>
          </a:stretch>
        </p:blipFill>
        <p:spPr>
          <a:xfrm>
            <a:off x="5357813" y="6012537"/>
            <a:ext cx="3608732" cy="665440"/>
          </a:xfrm>
          <a:prstGeom prst="rect">
            <a:avLst/>
          </a:prstGeom>
        </p:spPr>
      </p:pic>
      <p:sp>
        <p:nvSpPr>
          <p:cNvPr id="9" name="Text 5"/>
          <p:cNvSpPr/>
          <p:nvPr/>
        </p:nvSpPr>
        <p:spPr>
          <a:xfrm>
            <a:off x="9877901" y="2853928"/>
            <a:ext cx="3280529"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Standard Deviation</a:t>
            </a:r>
            <a:endParaRPr lang="en-US" sz="2200" dirty="0"/>
          </a:p>
        </p:txBody>
      </p:sp>
      <p:sp>
        <p:nvSpPr>
          <p:cNvPr id="10" name="Text 6"/>
          <p:cNvSpPr/>
          <p:nvPr/>
        </p:nvSpPr>
        <p:spPr>
          <a:xfrm>
            <a:off x="9877901" y="3445193"/>
            <a:ext cx="3928586" cy="1532096"/>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The standard deviation, which measures value dispersion without power, is the square root of the variance: √231.64 = €15.22.</a:t>
            </a:r>
            <a:endParaRPr lang="en-US" sz="1850" dirty="0"/>
          </a:p>
        </p:txBody>
      </p:sp>
      <p:pic>
        <p:nvPicPr>
          <p:cNvPr id="11" name="Image 2" descr="preencoded.png"/>
          <p:cNvPicPr>
            <a:picLocks noChangeAspect="1"/>
          </p:cNvPicPr>
          <p:nvPr/>
        </p:nvPicPr>
        <p:blipFill>
          <a:blip r:embed="rId5"/>
          <a:stretch>
            <a:fillRect/>
          </a:stretch>
        </p:blipFill>
        <p:spPr>
          <a:xfrm>
            <a:off x="9877900" y="5246489"/>
            <a:ext cx="2374749" cy="766048"/>
          </a:xfrm>
          <a:prstGeom prst="rect">
            <a:avLst/>
          </a:prstGeom>
        </p:spPr>
      </p:pic>
      <p:sp>
        <p:nvSpPr>
          <p:cNvPr id="12" name="Rectangle 11">
            <a:extLst>
              <a:ext uri="{FF2B5EF4-FFF2-40B4-BE49-F238E27FC236}">
                <a16:creationId xmlns:a16="http://schemas.microsoft.com/office/drawing/2014/main" id="{E398D776-6CA7-4647-9D15-898BDAE48DFD}"/>
              </a:ext>
            </a:extLst>
          </p:cNvPr>
          <p:cNvSpPr/>
          <p:nvPr/>
        </p:nvSpPr>
        <p:spPr>
          <a:xfrm>
            <a:off x="11403105" y="7215902"/>
            <a:ext cx="3227295" cy="10136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1669256" y="635912"/>
            <a:ext cx="12961144" cy="1402794"/>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Average Basket: Visualization and Interpretation</a:t>
            </a:r>
            <a:endParaRPr lang="en-US" sz="4400" dirty="0"/>
          </a:p>
        </p:txBody>
      </p:sp>
      <p:sp>
        <p:nvSpPr>
          <p:cNvPr id="4" name="Text 1"/>
          <p:cNvSpPr/>
          <p:nvPr/>
        </p:nvSpPr>
        <p:spPr>
          <a:xfrm>
            <a:off x="1221903" y="2395060"/>
            <a:ext cx="12961144" cy="1144429"/>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The histogram below illustrates the distribution of basket amounts, showing a high concentration between €10-25, representing frequent customer purchases. The superimposed density curve reveals an asymmetrical distribution skewed right, indicating most customers spend less, while a few make higher-value purchases up to €60.</a:t>
            </a:r>
            <a:endParaRPr lang="en-US" sz="1850" dirty="0"/>
          </a:p>
        </p:txBody>
      </p:sp>
      <p:sp>
        <p:nvSpPr>
          <p:cNvPr id="5" name="Text 2"/>
          <p:cNvSpPr/>
          <p:nvPr/>
        </p:nvSpPr>
        <p:spPr>
          <a:xfrm>
            <a:off x="1221903" y="3807736"/>
            <a:ext cx="12961144" cy="762953"/>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The calculated average of €28.02 and a standard deviation of €15.02 confirm significant variability. Most amounts fall between €13.00 and €43.04, highlighting considerable dispersion around the average.</a:t>
            </a:r>
            <a:endParaRPr lang="en-US" sz="1850" dirty="0"/>
          </a:p>
        </p:txBody>
      </p:sp>
      <p:sp>
        <p:nvSpPr>
          <p:cNvPr id="6" name="Rectangle 5">
            <a:extLst>
              <a:ext uri="{FF2B5EF4-FFF2-40B4-BE49-F238E27FC236}">
                <a16:creationId xmlns:a16="http://schemas.microsoft.com/office/drawing/2014/main" id="{694C642C-25D5-47E7-AFDB-9188EF0C3308}"/>
              </a:ext>
            </a:extLst>
          </p:cNvPr>
          <p:cNvSpPr/>
          <p:nvPr/>
        </p:nvSpPr>
        <p:spPr>
          <a:xfrm>
            <a:off x="11403105" y="7215902"/>
            <a:ext cx="3227295" cy="10136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4EB03F-06C1-4B98-AD05-37466D28A339}"/>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Tree>
    <p:extLst>
      <p:ext uri="{BB962C8B-B14F-4D97-AF65-F5344CB8AC3E}">
        <p14:creationId xmlns:p14="http://schemas.microsoft.com/office/powerpoint/2010/main" val="1197579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descr="A graph with a line going up">
            <a:extLst>
              <a:ext uri="{FF2B5EF4-FFF2-40B4-BE49-F238E27FC236}">
                <a16:creationId xmlns:a16="http://schemas.microsoft.com/office/drawing/2014/main" id="{3E3B896C-670E-4457-8F44-3802D9D4646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
            <a:ext cx="14630400" cy="8229600"/>
          </a:xfrm>
          <a:prstGeom prst="rect">
            <a:avLst/>
          </a:prstGeom>
          <a:noFill/>
          <a:ln>
            <a:noFill/>
          </a:ln>
        </p:spPr>
      </p:pic>
    </p:spTree>
    <p:extLst>
      <p:ext uri="{BB962C8B-B14F-4D97-AF65-F5344CB8AC3E}">
        <p14:creationId xmlns:p14="http://schemas.microsoft.com/office/powerpoint/2010/main" val="843648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712946" y="1102400"/>
            <a:ext cx="6868597" cy="599123"/>
          </a:xfrm>
          <a:prstGeom prst="rect">
            <a:avLst/>
          </a:prstGeom>
          <a:noFill/>
          <a:ln/>
        </p:spPr>
        <p:txBody>
          <a:bodyPr wrap="none" lIns="0" tIns="0" rIns="0" bIns="0" rtlCol="0" anchor="t"/>
          <a:lstStyle/>
          <a:p>
            <a:pPr marL="0" indent="0" algn="l">
              <a:lnSpc>
                <a:spcPts val="4700"/>
              </a:lnSpc>
              <a:buNone/>
            </a:pPr>
            <a:r>
              <a:rPr lang="en-US" sz="3750" dirty="0">
                <a:solidFill>
                  <a:srgbClr val="FFFFFF"/>
                </a:solidFill>
                <a:latin typeface="Unbounded" pitchFamily="34" charset="0"/>
                <a:ea typeface="Unbounded" pitchFamily="34" charset="-122"/>
                <a:cs typeface="Unbounded" pitchFamily="34" charset="-120"/>
              </a:rPr>
              <a:t>Analysis: Critical Stocks</a:t>
            </a:r>
            <a:endParaRPr lang="en-US" sz="3750" dirty="0"/>
          </a:p>
        </p:txBody>
      </p:sp>
      <p:sp>
        <p:nvSpPr>
          <p:cNvPr id="4" name="Shape 1"/>
          <p:cNvSpPr/>
          <p:nvPr/>
        </p:nvSpPr>
        <p:spPr>
          <a:xfrm>
            <a:off x="678184" y="2007036"/>
            <a:ext cx="5854996" cy="2640267"/>
          </a:xfrm>
          <a:prstGeom prst="roundRect">
            <a:avLst>
              <a:gd name="adj" fmla="val 982"/>
            </a:avLst>
          </a:prstGeom>
          <a:solidFill>
            <a:srgbClr val="304755"/>
          </a:solidFill>
          <a:ln/>
        </p:spPr>
      </p:sp>
      <p:sp>
        <p:nvSpPr>
          <p:cNvPr id="5" name="Text 2"/>
          <p:cNvSpPr/>
          <p:nvPr/>
        </p:nvSpPr>
        <p:spPr>
          <a:xfrm>
            <a:off x="916543" y="2210633"/>
            <a:ext cx="2679502" cy="299561"/>
          </a:xfrm>
          <a:prstGeom prst="rect">
            <a:avLst/>
          </a:prstGeom>
          <a:noFill/>
          <a:ln/>
        </p:spPr>
        <p:txBody>
          <a:bodyPr wrap="none" lIns="0" tIns="0" rIns="0" bIns="0" rtlCol="0" anchor="t"/>
          <a:lstStyle/>
          <a:p>
            <a:pPr marL="0" indent="0" algn="l">
              <a:lnSpc>
                <a:spcPts val="2350"/>
              </a:lnSpc>
              <a:buNone/>
            </a:pPr>
            <a:r>
              <a:rPr lang="en-US" sz="1850" dirty="0">
                <a:solidFill>
                  <a:srgbClr val="CAD6DE"/>
                </a:solidFill>
                <a:latin typeface="Unbounded" pitchFamily="34" charset="0"/>
                <a:ea typeface="Unbounded" pitchFamily="34" charset="-122"/>
                <a:cs typeface="Unbounded" pitchFamily="34" charset="-120"/>
              </a:rPr>
              <a:t>Indicator Selection</a:t>
            </a:r>
            <a:endParaRPr lang="en-US" sz="1850" dirty="0"/>
          </a:p>
        </p:txBody>
      </p:sp>
      <p:sp>
        <p:nvSpPr>
          <p:cNvPr id="6" name="Text 3"/>
          <p:cNvSpPr/>
          <p:nvPr/>
        </p:nvSpPr>
        <p:spPr>
          <a:xfrm>
            <a:off x="916543" y="2655598"/>
            <a:ext cx="5096982" cy="2281118"/>
          </a:xfrm>
          <a:prstGeom prst="rect">
            <a:avLst/>
          </a:prstGeom>
          <a:noFill/>
          <a:ln/>
        </p:spPr>
        <p:txBody>
          <a:bodyPr wrap="square" lIns="0" tIns="0" rIns="0" bIns="0" rtlCol="0" anchor="t"/>
          <a:lstStyle/>
          <a:p>
            <a:pPr marL="0" indent="0" algn="l">
              <a:lnSpc>
                <a:spcPts val="2550"/>
              </a:lnSpc>
              <a:buNone/>
            </a:pPr>
            <a:r>
              <a:rPr lang="en-US" sz="1600" dirty="0">
                <a:solidFill>
                  <a:srgbClr val="CAD6DE"/>
                </a:solidFill>
                <a:latin typeface="Cabin" pitchFamily="34" charset="0"/>
                <a:ea typeface="Cabin" pitchFamily="34" charset="-122"/>
                <a:cs typeface="Cabin" pitchFamily="34" charset="-120"/>
              </a:rPr>
              <a:t>We use minimum stock, critical limit, and a decreasing ranking of products by available stock. The minimum identifies lowest stocks, the critical limit highlights urgent situations, and ranking prioritizes actions for decision-makers.</a:t>
            </a:r>
            <a:endParaRPr lang="en-US" sz="1600" dirty="0"/>
          </a:p>
        </p:txBody>
      </p:sp>
      <p:sp>
        <p:nvSpPr>
          <p:cNvPr id="7" name="Shape 4"/>
          <p:cNvSpPr/>
          <p:nvPr/>
        </p:nvSpPr>
        <p:spPr>
          <a:xfrm>
            <a:off x="8097221" y="2007037"/>
            <a:ext cx="4749901" cy="2640267"/>
          </a:xfrm>
          <a:prstGeom prst="roundRect">
            <a:avLst>
              <a:gd name="adj" fmla="val 982"/>
            </a:avLst>
          </a:prstGeom>
          <a:solidFill>
            <a:srgbClr val="304755"/>
          </a:solidFill>
          <a:ln/>
        </p:spPr>
      </p:sp>
      <p:sp>
        <p:nvSpPr>
          <p:cNvPr id="8" name="Text 5"/>
          <p:cNvSpPr/>
          <p:nvPr/>
        </p:nvSpPr>
        <p:spPr>
          <a:xfrm>
            <a:off x="8300818" y="2210633"/>
            <a:ext cx="2396371" cy="299561"/>
          </a:xfrm>
          <a:prstGeom prst="rect">
            <a:avLst/>
          </a:prstGeom>
          <a:noFill/>
          <a:ln/>
        </p:spPr>
        <p:txBody>
          <a:bodyPr wrap="none" lIns="0" tIns="0" rIns="0" bIns="0" rtlCol="0" anchor="t"/>
          <a:lstStyle/>
          <a:p>
            <a:pPr marL="0" indent="0" algn="l">
              <a:lnSpc>
                <a:spcPts val="2350"/>
              </a:lnSpc>
              <a:buNone/>
            </a:pPr>
            <a:r>
              <a:rPr lang="en-US" sz="1850" dirty="0">
                <a:solidFill>
                  <a:srgbClr val="CAD6DE"/>
                </a:solidFill>
                <a:latin typeface="Unbounded" pitchFamily="34" charset="0"/>
                <a:ea typeface="Unbounded" pitchFamily="34" charset="-122"/>
                <a:cs typeface="Unbounded" pitchFamily="34" charset="-120"/>
              </a:rPr>
              <a:t>Calculations</a:t>
            </a:r>
            <a:endParaRPr lang="en-US" sz="1850" dirty="0"/>
          </a:p>
        </p:txBody>
      </p:sp>
      <p:sp>
        <p:nvSpPr>
          <p:cNvPr id="9" name="Text 6"/>
          <p:cNvSpPr/>
          <p:nvPr/>
        </p:nvSpPr>
        <p:spPr>
          <a:xfrm>
            <a:off x="8300818" y="2632353"/>
            <a:ext cx="4427970" cy="1629370"/>
          </a:xfrm>
          <a:prstGeom prst="rect">
            <a:avLst/>
          </a:prstGeom>
          <a:noFill/>
          <a:ln/>
        </p:spPr>
        <p:txBody>
          <a:bodyPr wrap="square" lIns="0" tIns="0" rIns="0" bIns="0" rtlCol="0" anchor="t"/>
          <a:lstStyle/>
          <a:p>
            <a:pPr marL="0" indent="0" algn="l">
              <a:lnSpc>
                <a:spcPts val="2550"/>
              </a:lnSpc>
              <a:buNone/>
            </a:pPr>
            <a:r>
              <a:rPr lang="en-US" sz="1600" dirty="0">
                <a:solidFill>
                  <a:srgbClr val="CAD6DE"/>
                </a:solidFill>
                <a:latin typeface="Cabin" pitchFamily="34" charset="0"/>
                <a:ea typeface="Cabin" pitchFamily="34" charset="-122"/>
                <a:cs typeface="Cabin" pitchFamily="34" charset="-120"/>
              </a:rPr>
              <a:t>The minimum quantity available is 60 units. No statistical distribution is needed as values are discrete and few. </a:t>
            </a:r>
            <a:endParaRPr lang="en-US" sz="1600" dirty="0"/>
          </a:p>
        </p:txBody>
      </p:sp>
      <p:sp>
        <p:nvSpPr>
          <p:cNvPr id="10" name="Shape 7"/>
          <p:cNvSpPr/>
          <p:nvPr/>
        </p:nvSpPr>
        <p:spPr>
          <a:xfrm>
            <a:off x="3722489" y="5340901"/>
            <a:ext cx="7718108" cy="1806535"/>
          </a:xfrm>
          <a:prstGeom prst="roundRect">
            <a:avLst>
              <a:gd name="adj" fmla="val 1691"/>
            </a:avLst>
          </a:prstGeom>
          <a:solidFill>
            <a:srgbClr val="304755"/>
          </a:solidFill>
          <a:ln/>
        </p:spPr>
      </p:sp>
      <p:sp>
        <p:nvSpPr>
          <p:cNvPr id="11" name="Text 8"/>
          <p:cNvSpPr/>
          <p:nvPr/>
        </p:nvSpPr>
        <p:spPr>
          <a:xfrm>
            <a:off x="3926086" y="5522949"/>
            <a:ext cx="2396371" cy="299561"/>
          </a:xfrm>
          <a:prstGeom prst="rect">
            <a:avLst/>
          </a:prstGeom>
          <a:noFill/>
          <a:ln/>
        </p:spPr>
        <p:txBody>
          <a:bodyPr wrap="none" lIns="0" tIns="0" rIns="0" bIns="0" rtlCol="0" anchor="t"/>
          <a:lstStyle/>
          <a:p>
            <a:pPr marL="0" indent="0" algn="l">
              <a:lnSpc>
                <a:spcPts val="2350"/>
              </a:lnSpc>
              <a:buNone/>
            </a:pPr>
            <a:r>
              <a:rPr lang="en-US" sz="1850" dirty="0">
                <a:solidFill>
                  <a:srgbClr val="CAD6DE"/>
                </a:solidFill>
                <a:latin typeface="Unbounded" pitchFamily="34" charset="0"/>
                <a:ea typeface="Unbounded" pitchFamily="34" charset="-122"/>
                <a:cs typeface="Unbounded" pitchFamily="34" charset="-120"/>
              </a:rPr>
              <a:t>Interpretation</a:t>
            </a:r>
            <a:endParaRPr lang="en-US" sz="1850" dirty="0"/>
          </a:p>
        </p:txBody>
      </p:sp>
      <p:sp>
        <p:nvSpPr>
          <p:cNvPr id="12" name="Text 9"/>
          <p:cNvSpPr/>
          <p:nvPr/>
        </p:nvSpPr>
        <p:spPr>
          <a:xfrm>
            <a:off x="3926086" y="5993136"/>
            <a:ext cx="7310914" cy="977622"/>
          </a:xfrm>
          <a:prstGeom prst="rect">
            <a:avLst/>
          </a:prstGeom>
          <a:noFill/>
          <a:ln/>
        </p:spPr>
        <p:txBody>
          <a:bodyPr wrap="square" lIns="0" tIns="0" rIns="0" bIns="0" rtlCol="0" anchor="t"/>
          <a:lstStyle/>
          <a:p>
            <a:pPr marL="0" indent="0" algn="l">
              <a:lnSpc>
                <a:spcPts val="2550"/>
              </a:lnSpc>
              <a:buNone/>
            </a:pPr>
            <a:r>
              <a:rPr lang="en-US" sz="1600" dirty="0">
                <a:solidFill>
                  <a:srgbClr val="CAD6DE"/>
                </a:solidFill>
                <a:latin typeface="Cabin" pitchFamily="34" charset="0"/>
                <a:ea typeface="Cabin" pitchFamily="34" charset="-122"/>
                <a:cs typeface="Cabin" pitchFamily="34" charset="-120"/>
              </a:rPr>
              <a:t>The analysis of available stock shows moderate concentration between 120 and 250 units, but also critical situations. Three products are below the critical threshold, signaling potential out-of-stock risks for decision-makers.</a:t>
            </a:r>
            <a:endParaRPr lang="en-US" sz="1600" dirty="0"/>
          </a:p>
        </p:txBody>
      </p:sp>
      <p:sp>
        <p:nvSpPr>
          <p:cNvPr id="13" name="Rectangle 12">
            <a:extLst>
              <a:ext uri="{FF2B5EF4-FFF2-40B4-BE49-F238E27FC236}">
                <a16:creationId xmlns:a16="http://schemas.microsoft.com/office/drawing/2014/main" id="{1634499F-2710-47FB-B008-EF70C6295580}"/>
              </a:ext>
            </a:extLst>
          </p:cNvPr>
          <p:cNvSpPr/>
          <p:nvPr/>
        </p:nvSpPr>
        <p:spPr>
          <a:xfrm>
            <a:off x="11403105" y="7215902"/>
            <a:ext cx="3227295" cy="10136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lines and numbers&#10;&#10;AI-generated content may be incorrect.">
            <a:extLst>
              <a:ext uri="{FF2B5EF4-FFF2-40B4-BE49-F238E27FC236}">
                <a16:creationId xmlns:a16="http://schemas.microsoft.com/office/drawing/2014/main" id="{6CB05AA7-CEF9-41AD-A868-97EA1151BC4B}"/>
              </a:ext>
            </a:extLst>
          </p:cNvPr>
          <p:cNvPicPr/>
          <p:nvPr/>
        </p:nvPicPr>
        <p:blipFill>
          <a:blip r:embed="rId2"/>
          <a:stretch>
            <a:fillRect/>
          </a:stretch>
        </p:blipFill>
        <p:spPr>
          <a:xfrm>
            <a:off x="0" y="0"/>
            <a:ext cx="14630399" cy="8229600"/>
          </a:xfrm>
          <a:prstGeom prst="rect">
            <a:avLst/>
          </a:prstGeom>
        </p:spPr>
      </p:pic>
    </p:spTree>
    <p:extLst>
      <p:ext uri="{BB962C8B-B14F-4D97-AF65-F5344CB8AC3E}">
        <p14:creationId xmlns:p14="http://schemas.microsoft.com/office/powerpoint/2010/main" val="2023587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324124" y="1564600"/>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Critical Stocks: Visualization</a:t>
            </a:r>
            <a:endParaRPr lang="en-US" sz="4400" dirty="0"/>
          </a:p>
        </p:txBody>
      </p:sp>
      <p:sp>
        <p:nvSpPr>
          <p:cNvPr id="4" name="Text 1"/>
          <p:cNvSpPr/>
          <p:nvPr/>
        </p:nvSpPr>
        <p:spPr>
          <a:xfrm>
            <a:off x="6324124" y="3331607"/>
            <a:ext cx="7468553" cy="1532096"/>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The graph below displays the distribution of available quantities in stock, revealing the overall structure of supply levels. While there's a moderate concentration around certain values (particularly between 120 and 250 units), it also highlights products in more critical situations.</a:t>
            </a:r>
            <a:endParaRPr lang="en-US" sz="1850" dirty="0"/>
          </a:p>
        </p:txBody>
      </p:sp>
      <p:sp>
        <p:nvSpPr>
          <p:cNvPr id="5" name="Text 2"/>
          <p:cNvSpPr/>
          <p:nvPr/>
        </p:nvSpPr>
        <p:spPr>
          <a:xfrm>
            <a:off x="6324124" y="5132903"/>
            <a:ext cx="7468553" cy="1532096"/>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Notably, three products fall below the critical limit, serving as a warning signal for stock management. This visualization is crucial for decision-makers to anticipate potential out-of-stock risks and prioritize necessary actions.</a:t>
            </a:r>
            <a:endParaRPr lang="en-US" sz="1850" dirty="0"/>
          </a:p>
        </p:txBody>
      </p:sp>
      <p:sp>
        <p:nvSpPr>
          <p:cNvPr id="6" name="Rectangle 5">
            <a:extLst>
              <a:ext uri="{FF2B5EF4-FFF2-40B4-BE49-F238E27FC236}">
                <a16:creationId xmlns:a16="http://schemas.microsoft.com/office/drawing/2014/main" id="{915B7300-18ED-428D-B08E-E2BD70E0CEC1}"/>
              </a:ext>
            </a:extLst>
          </p:cNvPr>
          <p:cNvSpPr/>
          <p:nvPr/>
        </p:nvSpPr>
        <p:spPr>
          <a:xfrm>
            <a:off x="11403105" y="7215902"/>
            <a:ext cx="3227295" cy="10136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 9">
            <a:extLst>
              <a:ext uri="{FF2B5EF4-FFF2-40B4-BE49-F238E27FC236}">
                <a16:creationId xmlns:a16="http://schemas.microsoft.com/office/drawing/2014/main" id="{4E55F2A2-982E-4627-B9BD-398F2937FD4C}"/>
              </a:ext>
            </a:extLst>
          </p:cNvPr>
          <p:cNvPicPr>
            <a:picLocks noChangeAspect="1"/>
          </p:cNvPicPr>
          <p:nvPr/>
        </p:nvPicPr>
        <p:blipFill>
          <a:blip r:embed="rId3"/>
          <a:stretch>
            <a:fillRect/>
          </a:stretch>
        </p:blipFill>
        <p:spPr>
          <a:xfrm>
            <a:off x="-367517" y="768979"/>
            <a:ext cx="6691641" cy="66916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3" name="Text 0"/>
          <p:cNvSpPr/>
          <p:nvPr/>
        </p:nvSpPr>
        <p:spPr>
          <a:xfrm>
            <a:off x="4495324" y="772954"/>
            <a:ext cx="9297353"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Analysis: Tension Between Sales and Stock</a:t>
            </a:r>
            <a:endParaRPr lang="en-US" sz="4400" dirty="0"/>
          </a:p>
        </p:txBody>
      </p:sp>
      <p:pic>
        <p:nvPicPr>
          <p:cNvPr id="4" name="Image 1" descr="preencoded.png"/>
          <p:cNvPicPr>
            <a:picLocks noChangeAspect="1"/>
          </p:cNvPicPr>
          <p:nvPr/>
        </p:nvPicPr>
        <p:blipFill>
          <a:blip r:embed="rId4"/>
          <a:stretch>
            <a:fillRect/>
          </a:stretch>
        </p:blipFill>
        <p:spPr>
          <a:xfrm>
            <a:off x="4495324" y="2539960"/>
            <a:ext cx="1196816" cy="1740218"/>
          </a:xfrm>
          <a:prstGeom prst="rect">
            <a:avLst/>
          </a:prstGeom>
        </p:spPr>
      </p:pic>
      <p:sp>
        <p:nvSpPr>
          <p:cNvPr id="5" name="Text 1"/>
          <p:cNvSpPr/>
          <p:nvPr/>
        </p:nvSpPr>
        <p:spPr>
          <a:xfrm>
            <a:off x="6051113" y="2779276"/>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Objective</a:t>
            </a:r>
            <a:endParaRPr lang="en-US" sz="2200" dirty="0"/>
          </a:p>
        </p:txBody>
      </p:sp>
      <p:sp>
        <p:nvSpPr>
          <p:cNvPr id="6" name="Text 2"/>
          <p:cNvSpPr/>
          <p:nvPr/>
        </p:nvSpPr>
        <p:spPr>
          <a:xfrm>
            <a:off x="6051113" y="3274814"/>
            <a:ext cx="7741563" cy="76604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Determine the correlation between product quantity sold and quantity available in stock using the Pearson linear correlation coefficient.</a:t>
            </a:r>
            <a:endParaRPr lang="en-US" sz="1850" dirty="0"/>
          </a:p>
        </p:txBody>
      </p:sp>
      <p:pic>
        <p:nvPicPr>
          <p:cNvPr id="7" name="Image 2" descr="preencoded.png"/>
          <p:cNvPicPr>
            <a:picLocks noChangeAspect="1"/>
          </p:cNvPicPr>
          <p:nvPr/>
        </p:nvPicPr>
        <p:blipFill>
          <a:blip r:embed="rId5"/>
          <a:stretch>
            <a:fillRect/>
          </a:stretch>
        </p:blipFill>
        <p:spPr>
          <a:xfrm>
            <a:off x="4495324" y="4280178"/>
            <a:ext cx="1196816" cy="1740218"/>
          </a:xfrm>
          <a:prstGeom prst="rect">
            <a:avLst/>
          </a:prstGeom>
        </p:spPr>
      </p:pic>
      <p:sp>
        <p:nvSpPr>
          <p:cNvPr id="8" name="Text 3"/>
          <p:cNvSpPr/>
          <p:nvPr/>
        </p:nvSpPr>
        <p:spPr>
          <a:xfrm>
            <a:off x="6051113" y="4519493"/>
            <a:ext cx="3600807"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Pearson's Coefficient</a:t>
            </a:r>
            <a:endParaRPr lang="en-US" sz="2200" dirty="0"/>
          </a:p>
        </p:txBody>
      </p:sp>
      <p:sp>
        <p:nvSpPr>
          <p:cNvPr id="9" name="Text 4"/>
          <p:cNvSpPr/>
          <p:nvPr/>
        </p:nvSpPr>
        <p:spPr>
          <a:xfrm>
            <a:off x="6051113" y="5015032"/>
            <a:ext cx="7741563" cy="76604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This coefficient is used for two quantitative variables. It is not to be confused with the Pearson asymmetry coefficient.</a:t>
            </a:r>
            <a:endParaRPr lang="en-US" sz="1850" dirty="0"/>
          </a:p>
        </p:txBody>
      </p:sp>
      <p:pic>
        <p:nvPicPr>
          <p:cNvPr id="10" name="Image 3" descr="preencoded.png"/>
          <p:cNvPicPr>
            <a:picLocks noChangeAspect="1"/>
          </p:cNvPicPr>
          <p:nvPr/>
        </p:nvPicPr>
        <p:blipFill>
          <a:blip r:embed="rId6"/>
          <a:stretch>
            <a:fillRect/>
          </a:stretch>
        </p:blipFill>
        <p:spPr>
          <a:xfrm>
            <a:off x="4495324" y="6020395"/>
            <a:ext cx="1196816" cy="1436251"/>
          </a:xfrm>
          <a:prstGeom prst="rect">
            <a:avLst/>
          </a:prstGeom>
        </p:spPr>
      </p:pic>
      <p:sp>
        <p:nvSpPr>
          <p:cNvPr id="11" name="Text 5"/>
          <p:cNvSpPr/>
          <p:nvPr/>
        </p:nvSpPr>
        <p:spPr>
          <a:xfrm>
            <a:off x="6051113" y="6259711"/>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Average Usage</a:t>
            </a:r>
            <a:endParaRPr lang="en-US" sz="2200" dirty="0"/>
          </a:p>
        </p:txBody>
      </p:sp>
      <p:sp>
        <p:nvSpPr>
          <p:cNvPr id="12" name="Text 6"/>
          <p:cNvSpPr/>
          <p:nvPr/>
        </p:nvSpPr>
        <p:spPr>
          <a:xfrm>
            <a:off x="6051113" y="6755249"/>
            <a:ext cx="7741563" cy="38302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The average is a key tool used to complete the Pearson correlation formula.</a:t>
            </a:r>
            <a:endParaRPr lang="en-US" sz="1850" dirty="0"/>
          </a:p>
        </p:txBody>
      </p:sp>
      <p:sp>
        <p:nvSpPr>
          <p:cNvPr id="13" name="Rectangle 12">
            <a:extLst>
              <a:ext uri="{FF2B5EF4-FFF2-40B4-BE49-F238E27FC236}">
                <a16:creationId xmlns:a16="http://schemas.microsoft.com/office/drawing/2014/main" id="{7C1407B1-56C7-46EF-9F17-EE32716EEF7A}"/>
              </a:ext>
            </a:extLst>
          </p:cNvPr>
          <p:cNvSpPr/>
          <p:nvPr/>
        </p:nvSpPr>
        <p:spPr>
          <a:xfrm>
            <a:off x="11403105" y="7215902"/>
            <a:ext cx="3227295" cy="10136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837724" y="1404104"/>
            <a:ext cx="7468553" cy="2112050"/>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Tension Between Sales and Stock: Calculations</a:t>
            </a:r>
            <a:endParaRPr lang="en-US" sz="4400" dirty="0"/>
          </a:p>
        </p:txBody>
      </p:sp>
      <p:sp>
        <p:nvSpPr>
          <p:cNvPr id="4" name="Text 1"/>
          <p:cNvSpPr/>
          <p:nvPr/>
        </p:nvSpPr>
        <p:spPr>
          <a:xfrm>
            <a:off x="837724" y="3875127"/>
            <a:ext cx="7468553"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The average quantity purchased per product is 2.48 units, meaning consumers typically buy two items when a product is purchased. The average available quantity in stock is 295.16 products.</a:t>
            </a:r>
            <a:endParaRPr lang="en-US" sz="1850" dirty="0"/>
          </a:p>
        </p:txBody>
      </p:sp>
      <p:sp>
        <p:nvSpPr>
          <p:cNvPr id="5" name="Text 2"/>
          <p:cNvSpPr/>
          <p:nvPr/>
        </p:nvSpPr>
        <p:spPr>
          <a:xfrm>
            <a:off x="837724" y="5293400"/>
            <a:ext cx="7468553" cy="1532096"/>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The Pearson correlation coefficient is calculated as -0.6799. This negative value indicates an inverse relationship: as sales increase, available stock tends to decrease. The code for these calculations is available in the Appendix.</a:t>
            </a:r>
            <a:endParaRPr lang="en-US" sz="1850" dirty="0"/>
          </a:p>
        </p:txBody>
      </p:sp>
      <p:pic>
        <p:nvPicPr>
          <p:cNvPr id="7" name="Image 6">
            <a:extLst>
              <a:ext uri="{FF2B5EF4-FFF2-40B4-BE49-F238E27FC236}">
                <a16:creationId xmlns:a16="http://schemas.microsoft.com/office/drawing/2014/main" id="{4823D38E-90CA-4C88-B248-7DECB218CD37}"/>
              </a:ext>
            </a:extLst>
          </p:cNvPr>
          <p:cNvPicPr>
            <a:picLocks noChangeAspect="1"/>
          </p:cNvPicPr>
          <p:nvPr/>
        </p:nvPicPr>
        <p:blipFill>
          <a:blip r:embed="rId3"/>
          <a:stretch>
            <a:fillRect/>
          </a:stretch>
        </p:blipFill>
        <p:spPr>
          <a:xfrm>
            <a:off x="8401839" y="0"/>
            <a:ext cx="6228561" cy="1687893"/>
          </a:xfrm>
          <a:prstGeom prst="rect">
            <a:avLst/>
          </a:prstGeom>
        </p:spPr>
      </p:pic>
      <p:sp>
        <p:nvSpPr>
          <p:cNvPr id="8" name="Rectangle 7">
            <a:extLst>
              <a:ext uri="{FF2B5EF4-FFF2-40B4-BE49-F238E27FC236}">
                <a16:creationId xmlns:a16="http://schemas.microsoft.com/office/drawing/2014/main" id="{AC5327BE-CD2F-4D84-9DC4-3193AF894E7C}"/>
              </a:ext>
            </a:extLst>
          </p:cNvPr>
          <p:cNvSpPr/>
          <p:nvPr/>
        </p:nvSpPr>
        <p:spPr>
          <a:xfrm>
            <a:off x="11403105" y="7215902"/>
            <a:ext cx="3227295" cy="10136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0677" y="561499"/>
            <a:ext cx="12324040" cy="546735"/>
          </a:xfrm>
          <a:prstGeom prst="rect">
            <a:avLst/>
          </a:prstGeom>
          <a:noFill/>
          <a:ln/>
        </p:spPr>
        <p:txBody>
          <a:bodyPr wrap="none" lIns="0" tIns="0" rIns="0" bIns="0" rtlCol="0" anchor="t"/>
          <a:lstStyle/>
          <a:p>
            <a:pPr marL="0" indent="0" algn="l">
              <a:lnSpc>
                <a:spcPts val="4300"/>
              </a:lnSpc>
              <a:buNone/>
            </a:pPr>
            <a:r>
              <a:rPr lang="en-US" sz="3400" dirty="0">
                <a:solidFill>
                  <a:srgbClr val="FFFFFF"/>
                </a:solidFill>
                <a:latin typeface="Unbounded" pitchFamily="34" charset="0"/>
                <a:ea typeface="Unbounded" pitchFamily="34" charset="-122"/>
                <a:cs typeface="Unbounded" pitchFamily="34" charset="-120"/>
              </a:rPr>
              <a:t>Tension Between Sales and Stock: Visualization</a:t>
            </a:r>
            <a:endParaRPr lang="en-US" sz="3400" dirty="0"/>
          </a:p>
        </p:txBody>
      </p:sp>
      <p:sp>
        <p:nvSpPr>
          <p:cNvPr id="3" name="Text 1"/>
          <p:cNvSpPr/>
          <p:nvPr/>
        </p:nvSpPr>
        <p:spPr>
          <a:xfrm>
            <a:off x="650677" y="1479947"/>
            <a:ext cx="13329047" cy="594598"/>
          </a:xfrm>
          <a:prstGeom prst="rect">
            <a:avLst/>
          </a:prstGeom>
          <a:noFill/>
          <a:ln/>
        </p:spPr>
        <p:txBody>
          <a:bodyPr wrap="square" lIns="0" tIns="0" rIns="0" bIns="0" rtlCol="0" anchor="t"/>
          <a:lstStyle/>
          <a:p>
            <a:pPr marL="0" indent="0" algn="l">
              <a:lnSpc>
                <a:spcPts val="2300"/>
              </a:lnSpc>
              <a:buNone/>
            </a:pPr>
            <a:r>
              <a:rPr lang="en-US" sz="1450" dirty="0">
                <a:solidFill>
                  <a:srgbClr val="CAD6DE"/>
                </a:solidFill>
                <a:latin typeface="Cabin" pitchFamily="34" charset="0"/>
                <a:ea typeface="Cabin" pitchFamily="34" charset="-122"/>
                <a:cs typeface="Cabin" pitchFamily="34" charset="-120"/>
              </a:rPr>
              <a:t>The statistical distributions below illustrate the relationship between sales and stock. The first chart shows the distribution on the billLine table, while the second shows the distribution on the stock table. These visualizations help confirm the inverse correlation.</a:t>
            </a:r>
            <a:endParaRPr lang="en-US" sz="1450" dirty="0"/>
          </a:p>
        </p:txBody>
      </p:sp>
      <p:sp>
        <p:nvSpPr>
          <p:cNvPr id="7" name="Text 2"/>
          <p:cNvSpPr/>
          <p:nvPr/>
        </p:nvSpPr>
        <p:spPr>
          <a:xfrm>
            <a:off x="779767" y="6292346"/>
            <a:ext cx="13329047" cy="594598"/>
          </a:xfrm>
          <a:prstGeom prst="rect">
            <a:avLst/>
          </a:prstGeom>
          <a:noFill/>
          <a:ln/>
        </p:spPr>
        <p:txBody>
          <a:bodyPr wrap="square" lIns="0" tIns="0" rIns="0" bIns="0" rtlCol="0" anchor="t"/>
          <a:lstStyle/>
          <a:p>
            <a:pPr marL="0" indent="0" algn="l">
              <a:lnSpc>
                <a:spcPts val="2300"/>
              </a:lnSpc>
              <a:buNone/>
            </a:pPr>
            <a:r>
              <a:rPr lang="en-US" sz="1450" dirty="0">
                <a:solidFill>
                  <a:srgbClr val="CAD6DE"/>
                </a:solidFill>
                <a:latin typeface="Cabin" pitchFamily="34" charset="0"/>
                <a:ea typeface="Cabin" pitchFamily="34" charset="-122"/>
                <a:cs typeface="Cabin" pitchFamily="34" charset="-120"/>
              </a:rPr>
              <a:t>The more a product is sold, the lower the available stock tends to be, as confirmed by the Pearson correlation coefficient of -0.6799. This highlights a significant tension between sales and stock, which could lead to stockouts if supply is not adequately adjusted.</a:t>
            </a:r>
            <a:endParaRPr lang="en-US" sz="1450" dirty="0"/>
          </a:p>
        </p:txBody>
      </p:sp>
      <p:sp>
        <p:nvSpPr>
          <p:cNvPr id="8" name="Rectangle 7">
            <a:extLst>
              <a:ext uri="{FF2B5EF4-FFF2-40B4-BE49-F238E27FC236}">
                <a16:creationId xmlns:a16="http://schemas.microsoft.com/office/drawing/2014/main" id="{69BB30FE-D555-43AA-9E6D-E63C5B06340C}"/>
              </a:ext>
            </a:extLst>
          </p:cNvPr>
          <p:cNvSpPr/>
          <p:nvPr/>
        </p:nvSpPr>
        <p:spPr>
          <a:xfrm>
            <a:off x="12048565" y="7635002"/>
            <a:ext cx="2581835" cy="594598"/>
          </a:xfrm>
          <a:prstGeom prst="rect">
            <a:avLst/>
          </a:prstGeom>
          <a:solidFill>
            <a:srgbClr val="11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1" descr="A screenshot of a computer">
            <a:extLst>
              <a:ext uri="{FF2B5EF4-FFF2-40B4-BE49-F238E27FC236}">
                <a16:creationId xmlns:a16="http://schemas.microsoft.com/office/drawing/2014/main" id="{BD4FB4F7-87E9-4A24-B568-8E883F129AC6}"/>
              </a:ext>
            </a:extLst>
          </p:cNvPr>
          <p:cNvPicPr/>
          <p:nvPr/>
        </p:nvPicPr>
        <p:blipFill>
          <a:blip r:embed="rId3">
            <a:extLst>
              <a:ext uri="{28A0092B-C50C-407E-A947-70E740481C1C}">
                <a14:useLocalDpi xmlns:a14="http://schemas.microsoft.com/office/drawing/2010/main" val="0"/>
              </a:ext>
            </a:extLst>
          </a:blip>
          <a:stretch>
            <a:fillRect/>
          </a:stretch>
        </p:blipFill>
        <p:spPr>
          <a:xfrm>
            <a:off x="-1" y="2919595"/>
            <a:ext cx="6992471" cy="2599078"/>
          </a:xfrm>
          <a:prstGeom prst="rect">
            <a:avLst/>
          </a:prstGeom>
        </p:spPr>
      </p:pic>
      <p:pic>
        <p:nvPicPr>
          <p:cNvPr id="10" name="Picture 1" descr="A screenshot of a computer&#10;&#10;AI-generated content may be incorrect.">
            <a:extLst>
              <a:ext uri="{FF2B5EF4-FFF2-40B4-BE49-F238E27FC236}">
                <a16:creationId xmlns:a16="http://schemas.microsoft.com/office/drawing/2014/main" id="{0914FED0-2103-4A29-BEA2-03B5BDB1D5CF}"/>
              </a:ext>
            </a:extLst>
          </p:cNvPr>
          <p:cNvPicPr/>
          <p:nvPr/>
        </p:nvPicPr>
        <p:blipFill>
          <a:blip r:embed="rId4"/>
          <a:stretch>
            <a:fillRect/>
          </a:stretch>
        </p:blipFill>
        <p:spPr>
          <a:xfrm>
            <a:off x="7315200" y="2945211"/>
            <a:ext cx="7315200" cy="259907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graph">
            <a:extLst>
              <a:ext uri="{FF2B5EF4-FFF2-40B4-BE49-F238E27FC236}">
                <a16:creationId xmlns:a16="http://schemas.microsoft.com/office/drawing/2014/main" id="{6045822C-DC99-40B5-8BE5-EA79F4C063DB}"/>
              </a:ext>
            </a:extLst>
          </p:cNvPr>
          <p:cNvPicPr/>
          <p:nvPr/>
        </p:nvPicPr>
        <p:blipFill>
          <a:blip r:embed="rId2"/>
          <a:stretch>
            <a:fillRect/>
          </a:stretch>
        </p:blipFill>
        <p:spPr>
          <a:xfrm>
            <a:off x="1" y="0"/>
            <a:ext cx="14630400" cy="8229600"/>
          </a:xfrm>
          <a:prstGeom prst="rect">
            <a:avLst/>
          </a:prstGeom>
        </p:spPr>
      </p:pic>
    </p:spTree>
    <p:extLst>
      <p:ext uri="{BB962C8B-B14F-4D97-AF65-F5344CB8AC3E}">
        <p14:creationId xmlns:p14="http://schemas.microsoft.com/office/powerpoint/2010/main" val="459672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00" y="0"/>
            <a:ext cx="3657600" cy="8229600"/>
          </a:xfrm>
          <a:prstGeom prst="rect">
            <a:avLst/>
          </a:prstGeom>
        </p:spPr>
      </p:pic>
      <p:sp>
        <p:nvSpPr>
          <p:cNvPr id="3" name="Text 0"/>
          <p:cNvSpPr/>
          <p:nvPr/>
        </p:nvSpPr>
        <p:spPr>
          <a:xfrm>
            <a:off x="837724" y="814268"/>
            <a:ext cx="9203293"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Conclusion: Key Takeaways</a:t>
            </a:r>
            <a:endParaRPr lang="en-US" sz="4400" dirty="0"/>
          </a:p>
        </p:txBody>
      </p:sp>
      <p:sp>
        <p:nvSpPr>
          <p:cNvPr id="4" name="Shape 1"/>
          <p:cNvSpPr/>
          <p:nvPr/>
        </p:nvSpPr>
        <p:spPr>
          <a:xfrm>
            <a:off x="837724" y="1877258"/>
            <a:ext cx="179427" cy="1261586"/>
          </a:xfrm>
          <a:prstGeom prst="roundRect">
            <a:avLst>
              <a:gd name="adj" fmla="val 20012"/>
            </a:avLst>
          </a:prstGeom>
          <a:solidFill>
            <a:srgbClr val="304755"/>
          </a:solidFill>
          <a:ln/>
        </p:spPr>
      </p:sp>
      <p:sp>
        <p:nvSpPr>
          <p:cNvPr id="5" name="Text 2"/>
          <p:cNvSpPr/>
          <p:nvPr/>
        </p:nvSpPr>
        <p:spPr>
          <a:xfrm>
            <a:off x="1376124" y="1877258"/>
            <a:ext cx="3195518"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Database Mastery</a:t>
            </a:r>
            <a:endParaRPr lang="en-US" sz="2200" dirty="0"/>
          </a:p>
        </p:txBody>
      </p:sp>
      <p:sp>
        <p:nvSpPr>
          <p:cNvPr id="6" name="Text 3"/>
          <p:cNvSpPr/>
          <p:nvPr/>
        </p:nvSpPr>
        <p:spPr>
          <a:xfrm>
            <a:off x="1376124" y="2372797"/>
            <a:ext cx="8758952" cy="76604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This project reinforced our SQL skills, including relational database design, DML triggers, and data integrity.</a:t>
            </a:r>
            <a:endParaRPr lang="en-US" sz="1850" dirty="0"/>
          </a:p>
        </p:txBody>
      </p:sp>
      <p:sp>
        <p:nvSpPr>
          <p:cNvPr id="7" name="Shape 4"/>
          <p:cNvSpPr/>
          <p:nvPr/>
        </p:nvSpPr>
        <p:spPr>
          <a:xfrm>
            <a:off x="1196697" y="3378160"/>
            <a:ext cx="179427" cy="1261586"/>
          </a:xfrm>
          <a:prstGeom prst="roundRect">
            <a:avLst>
              <a:gd name="adj" fmla="val 20012"/>
            </a:avLst>
          </a:prstGeom>
          <a:solidFill>
            <a:srgbClr val="304755"/>
          </a:solidFill>
          <a:ln/>
        </p:spPr>
      </p:sp>
      <p:sp>
        <p:nvSpPr>
          <p:cNvPr id="8" name="Text 5"/>
          <p:cNvSpPr/>
          <p:nvPr/>
        </p:nvSpPr>
        <p:spPr>
          <a:xfrm>
            <a:off x="1735098" y="3378160"/>
            <a:ext cx="3307794"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Meaningful Insights</a:t>
            </a:r>
            <a:endParaRPr lang="en-US" sz="2200" dirty="0"/>
          </a:p>
        </p:txBody>
      </p:sp>
      <p:sp>
        <p:nvSpPr>
          <p:cNvPr id="9" name="Text 6"/>
          <p:cNvSpPr/>
          <p:nvPr/>
        </p:nvSpPr>
        <p:spPr>
          <a:xfrm>
            <a:off x="1735098" y="3873698"/>
            <a:ext cx="8399978" cy="76604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We extracted valuable insights on customer behavior, inventory, and sales performance, emphasizing data's role in strategic decisions.</a:t>
            </a:r>
            <a:endParaRPr lang="en-US" sz="1850" dirty="0"/>
          </a:p>
        </p:txBody>
      </p:sp>
      <p:sp>
        <p:nvSpPr>
          <p:cNvPr id="10" name="Shape 7"/>
          <p:cNvSpPr/>
          <p:nvPr/>
        </p:nvSpPr>
        <p:spPr>
          <a:xfrm>
            <a:off x="1555790" y="4879062"/>
            <a:ext cx="179427" cy="1261586"/>
          </a:xfrm>
          <a:prstGeom prst="roundRect">
            <a:avLst>
              <a:gd name="adj" fmla="val 20012"/>
            </a:avLst>
          </a:prstGeom>
          <a:solidFill>
            <a:srgbClr val="304755"/>
          </a:solidFill>
          <a:ln/>
        </p:spPr>
      </p:sp>
      <p:sp>
        <p:nvSpPr>
          <p:cNvPr id="11" name="Text 8"/>
          <p:cNvSpPr/>
          <p:nvPr/>
        </p:nvSpPr>
        <p:spPr>
          <a:xfrm>
            <a:off x="2094190" y="4879062"/>
            <a:ext cx="3648670"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Analytical Proficiency</a:t>
            </a:r>
            <a:endParaRPr lang="en-US" sz="2200" dirty="0"/>
          </a:p>
        </p:txBody>
      </p:sp>
      <p:sp>
        <p:nvSpPr>
          <p:cNvPr id="12" name="Text 9"/>
          <p:cNvSpPr/>
          <p:nvPr/>
        </p:nvSpPr>
        <p:spPr>
          <a:xfrm>
            <a:off x="2094190" y="5374600"/>
            <a:ext cx="8040886" cy="76604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We enhanced our ability to produce valuable indicators using Python and data visualization tools, structuring complex datasets effectively.</a:t>
            </a:r>
            <a:endParaRPr lang="en-US" sz="1850" dirty="0"/>
          </a:p>
        </p:txBody>
      </p:sp>
      <p:sp>
        <p:nvSpPr>
          <p:cNvPr id="13" name="Text 10"/>
          <p:cNvSpPr/>
          <p:nvPr/>
        </p:nvSpPr>
        <p:spPr>
          <a:xfrm>
            <a:off x="837724" y="6649164"/>
            <a:ext cx="9297353" cy="76604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Overall, this SAE provided practical experience in database modeling and advanced statistical analysis, crucial for real-world business challenges.</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1128</Words>
  <Application>Microsoft Office PowerPoint</Application>
  <PresentationFormat>Personnalisé</PresentationFormat>
  <Paragraphs>92</Paragraphs>
  <Slides>16</Slides>
  <Notes>12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Cabin Bold</vt:lpstr>
      <vt:lpstr>Cabin</vt:lpstr>
      <vt:lpstr>Unbounded</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Lucas Cesar</cp:lastModifiedBy>
  <cp:revision>13</cp:revision>
  <dcterms:created xsi:type="dcterms:W3CDTF">2025-05-31T09:10:08Z</dcterms:created>
  <dcterms:modified xsi:type="dcterms:W3CDTF">2025-06-04T08:52:44Z</dcterms:modified>
</cp:coreProperties>
</file>